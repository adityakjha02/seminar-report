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7" r:id="rId4"/>
    <p:sldId id="258" r:id="rId5"/>
    <p:sldId id="259" r:id="rId6"/>
    <p:sldId id="260" r:id="rId7"/>
    <p:sldId id="263" r:id="rId8"/>
    <p:sldId id="264" r:id="rId9"/>
    <p:sldId id="265" r:id="rId10"/>
    <p:sldId id="266" r:id="rId11"/>
    <p:sldId id="280" r:id="rId12"/>
    <p:sldId id="278" r:id="rId13"/>
    <p:sldId id="276" r:id="rId14"/>
    <p:sldId id="279"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C7548A56-1FD0-48D7-B1C2-C6B082F3A45B}">
          <p14:sldIdLst>
            <p14:sldId id="256"/>
            <p14:sldId id="257"/>
            <p14:sldId id="277"/>
            <p14:sldId id="258"/>
            <p14:sldId id="259"/>
            <p14:sldId id="260"/>
            <p14:sldId id="263"/>
            <p14:sldId id="264"/>
            <p14:sldId id="265"/>
            <p14:sldId id="266"/>
            <p14:sldId id="280"/>
            <p14:sldId id="278"/>
            <p14:sldId id="276"/>
            <p14:sldId id="279"/>
            <p14:sldId id="273"/>
          </p14:sldIdLst>
        </p14:section>
        <p14:section name="Backup Slides" id="{5593C50F-8992-430A-B71E-0703ED74D4C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FF"/>
    <a:srgbClr val="002CCB"/>
    <a:srgbClr val="FAC3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91CF9C-DD9A-4F43-BD55-9AF867ADDF4E}" type="doc">
      <dgm:prSet loTypeId="urn:microsoft.com/office/officeart/2005/8/layout/vList5" loCatId="list" qsTypeId="urn:microsoft.com/office/officeart/2005/8/quickstyle/3d2" qsCatId="3D" csTypeId="urn:microsoft.com/office/officeart/2005/8/colors/colorful5" csCatId="colorful" phldr="1"/>
      <dgm:spPr/>
      <dgm:t>
        <a:bodyPr/>
        <a:lstStyle/>
        <a:p>
          <a:endParaRPr lang="en-IN"/>
        </a:p>
      </dgm:t>
    </dgm:pt>
    <dgm:pt modelId="{E0574A3C-C9F5-42F0-AB62-36CC492B0941}">
      <dgm:prSet/>
      <dgm:spPr/>
      <dgm:t>
        <a:bodyPr/>
        <a:lstStyle/>
        <a:p>
          <a:r>
            <a:rPr lang="en-IN" dirty="0">
              <a:latin typeface="Times New Roman" panose="02020603050405020304" pitchFamily="18" charset="0"/>
              <a:cs typeface="Times New Roman" panose="02020603050405020304" pitchFamily="18" charset="0"/>
            </a:rPr>
            <a:t>Validation and testing of ICs</a:t>
          </a:r>
        </a:p>
      </dgm:t>
    </dgm:pt>
    <dgm:pt modelId="{D29608BF-9F21-42AE-A24C-7DFCF1512979}" type="parTrans" cxnId="{217D8D6A-85F4-498D-9EAE-BD8F7BDE3AD9}">
      <dgm:prSet/>
      <dgm:spPr/>
      <dgm:t>
        <a:bodyPr/>
        <a:lstStyle/>
        <a:p>
          <a:endParaRPr lang="en-IN"/>
        </a:p>
      </dgm:t>
    </dgm:pt>
    <dgm:pt modelId="{C04203B4-4EFD-4B3C-A797-DEE00EB89C62}" type="sibTrans" cxnId="{217D8D6A-85F4-498D-9EAE-BD8F7BDE3AD9}">
      <dgm:prSet/>
      <dgm:spPr/>
      <dgm:t>
        <a:bodyPr/>
        <a:lstStyle/>
        <a:p>
          <a:endParaRPr lang="en-IN"/>
        </a:p>
      </dgm:t>
    </dgm:pt>
    <dgm:pt modelId="{74B528D5-A1AA-4501-86AC-D908E88ABA92}">
      <dgm:prSet/>
      <dgm:spPr/>
      <dgm:t>
        <a:bodyPr/>
        <a:lstStyle/>
        <a:p>
          <a:r>
            <a:rPr lang="en-IN" dirty="0"/>
            <a:t>Block Diagram of RI Testing </a:t>
          </a:r>
        </a:p>
      </dgm:t>
    </dgm:pt>
    <dgm:pt modelId="{C49B1A1C-724F-48EE-A014-B27AE1150B61}" type="parTrans" cxnId="{971C35AE-25A2-4E44-B330-3200A61D67C8}">
      <dgm:prSet/>
      <dgm:spPr/>
      <dgm:t>
        <a:bodyPr/>
        <a:lstStyle/>
        <a:p>
          <a:endParaRPr lang="en-IN"/>
        </a:p>
      </dgm:t>
    </dgm:pt>
    <dgm:pt modelId="{BAF117CD-8606-4BEE-9EF5-F36B02704E70}" type="sibTrans" cxnId="{971C35AE-25A2-4E44-B330-3200A61D67C8}">
      <dgm:prSet/>
      <dgm:spPr/>
      <dgm:t>
        <a:bodyPr/>
        <a:lstStyle/>
        <a:p>
          <a:endParaRPr lang="en-IN"/>
        </a:p>
      </dgm:t>
    </dgm:pt>
    <dgm:pt modelId="{41A43390-4812-4093-B3B3-B619F6ED3D6F}">
      <dgm:prSet/>
      <dgm:spPr/>
      <dgm:t>
        <a:bodyPr/>
        <a:lstStyle/>
        <a:p>
          <a:r>
            <a:rPr lang="en-IN" dirty="0"/>
            <a:t>Earlier Signal Chain Setup </a:t>
          </a:r>
        </a:p>
      </dgm:t>
    </dgm:pt>
    <dgm:pt modelId="{D6C81715-A8E8-4882-9AAB-D5B8F356BC80}" type="parTrans" cxnId="{DD9B4EDC-8191-46FE-A1B5-E55DBB24EEE0}">
      <dgm:prSet/>
      <dgm:spPr/>
      <dgm:t>
        <a:bodyPr/>
        <a:lstStyle/>
        <a:p>
          <a:endParaRPr lang="en-IN"/>
        </a:p>
      </dgm:t>
    </dgm:pt>
    <dgm:pt modelId="{67EB2B12-A2C7-4086-8DC3-CDC70BB5FD78}" type="sibTrans" cxnId="{DD9B4EDC-8191-46FE-A1B5-E55DBB24EEE0}">
      <dgm:prSet/>
      <dgm:spPr/>
      <dgm:t>
        <a:bodyPr/>
        <a:lstStyle/>
        <a:p>
          <a:endParaRPr lang="en-IN"/>
        </a:p>
      </dgm:t>
    </dgm:pt>
    <dgm:pt modelId="{014F3A50-2127-4BE1-84CB-3C59D2F01ECB}">
      <dgm:prSet/>
      <dgm:spPr/>
      <dgm:t>
        <a:bodyPr/>
        <a:lstStyle/>
        <a:p>
          <a:r>
            <a:rPr lang="en-IN" dirty="0"/>
            <a:t>Proposed Testing Procedure </a:t>
          </a:r>
        </a:p>
      </dgm:t>
    </dgm:pt>
    <dgm:pt modelId="{05E20D67-690E-46F0-AC5E-87FDECF23CBC}" type="parTrans" cxnId="{10B7DA0E-CF45-43F0-91E6-9B32CE6120E8}">
      <dgm:prSet/>
      <dgm:spPr/>
      <dgm:t>
        <a:bodyPr/>
        <a:lstStyle/>
        <a:p>
          <a:endParaRPr lang="en-IN"/>
        </a:p>
      </dgm:t>
    </dgm:pt>
    <dgm:pt modelId="{2749A84D-9836-4AD2-B84F-5BDD5FBD5260}" type="sibTrans" cxnId="{10B7DA0E-CF45-43F0-91E6-9B32CE6120E8}">
      <dgm:prSet/>
      <dgm:spPr/>
      <dgm:t>
        <a:bodyPr/>
        <a:lstStyle/>
        <a:p>
          <a:endParaRPr lang="en-IN"/>
        </a:p>
      </dgm:t>
    </dgm:pt>
    <dgm:pt modelId="{CB27C4DB-A074-4D89-98DF-878519E40ABA}">
      <dgm:prSet/>
      <dgm:spPr/>
      <dgm:t>
        <a:bodyPr/>
        <a:lstStyle/>
        <a:p>
          <a:r>
            <a:rPr lang="en-IN" dirty="0"/>
            <a:t>Scope of Further Improvement</a:t>
          </a:r>
        </a:p>
      </dgm:t>
    </dgm:pt>
    <dgm:pt modelId="{263324FE-31EC-457D-BE86-9FA20D7CF814}" type="parTrans" cxnId="{242D9242-633B-4E07-B810-4DD96FAF6256}">
      <dgm:prSet/>
      <dgm:spPr/>
      <dgm:t>
        <a:bodyPr/>
        <a:lstStyle/>
        <a:p>
          <a:endParaRPr lang="en-IN"/>
        </a:p>
      </dgm:t>
    </dgm:pt>
    <dgm:pt modelId="{68EE200A-B3DB-475E-A1F7-0D581EA9D474}" type="sibTrans" cxnId="{242D9242-633B-4E07-B810-4DD96FAF6256}">
      <dgm:prSet/>
      <dgm:spPr/>
      <dgm:t>
        <a:bodyPr/>
        <a:lstStyle/>
        <a:p>
          <a:endParaRPr lang="en-IN"/>
        </a:p>
      </dgm:t>
    </dgm:pt>
    <dgm:pt modelId="{6435F28E-3344-41EF-BD70-FCFEAC3F91A5}">
      <dgm:prSet/>
      <dgm:spPr/>
      <dgm:t>
        <a:bodyPr/>
        <a:lstStyle/>
        <a:p>
          <a:r>
            <a:rPr lang="en-IN" dirty="0">
              <a:latin typeface="Times New Roman" panose="02020603050405020304" pitchFamily="18" charset="0"/>
              <a:cs typeface="Times New Roman" panose="02020603050405020304" pitchFamily="18" charset="0"/>
            </a:rPr>
            <a:t>Question And Answer</a:t>
          </a:r>
        </a:p>
      </dgm:t>
    </dgm:pt>
    <dgm:pt modelId="{C774568E-4CB0-4533-8BA6-3D9B4C2ECFA9}" type="parTrans" cxnId="{8E9B8DCA-C200-43EA-ABCF-FF4BAF0BB6DA}">
      <dgm:prSet/>
      <dgm:spPr/>
      <dgm:t>
        <a:bodyPr/>
        <a:lstStyle/>
        <a:p>
          <a:endParaRPr lang="en-IN"/>
        </a:p>
      </dgm:t>
    </dgm:pt>
    <dgm:pt modelId="{58A68214-D012-4913-8436-1092AEADCAC5}" type="sibTrans" cxnId="{8E9B8DCA-C200-43EA-ABCF-FF4BAF0BB6DA}">
      <dgm:prSet/>
      <dgm:spPr/>
      <dgm:t>
        <a:bodyPr/>
        <a:lstStyle/>
        <a:p>
          <a:endParaRPr lang="en-IN"/>
        </a:p>
      </dgm:t>
    </dgm:pt>
    <dgm:pt modelId="{A450D78A-CB58-44EA-8113-801E25E0135F}">
      <dgm:prSet/>
      <dgm:spPr/>
      <dgm:t>
        <a:bodyPr/>
        <a:lstStyle/>
        <a:p>
          <a:r>
            <a:rPr lang="en-IN" dirty="0"/>
            <a:t>IEC-61000-4</a:t>
          </a:r>
        </a:p>
      </dgm:t>
    </dgm:pt>
    <dgm:pt modelId="{1C089BAB-FF3C-400F-ACC3-4E900C482BAA}" type="parTrans" cxnId="{F93DBA89-2247-45DB-91AA-CF4376843739}">
      <dgm:prSet/>
      <dgm:spPr/>
      <dgm:t>
        <a:bodyPr/>
        <a:lstStyle/>
        <a:p>
          <a:endParaRPr lang="en-IN"/>
        </a:p>
      </dgm:t>
    </dgm:pt>
    <dgm:pt modelId="{153FD3A1-AD06-47C8-9D7F-418ECD43D734}" type="sibTrans" cxnId="{F93DBA89-2247-45DB-91AA-CF4376843739}">
      <dgm:prSet/>
      <dgm:spPr/>
      <dgm:t>
        <a:bodyPr/>
        <a:lstStyle/>
        <a:p>
          <a:endParaRPr lang="en-IN"/>
        </a:p>
      </dgm:t>
    </dgm:pt>
    <dgm:pt modelId="{D2936196-4F53-41E3-8CF9-3649705BB37F}">
      <dgm:prSet/>
      <dgm:spPr/>
      <dgm:t>
        <a:bodyPr/>
        <a:lstStyle/>
        <a:p>
          <a:r>
            <a:rPr lang="en-IN" dirty="0"/>
            <a:t>Digital Isolators </a:t>
          </a:r>
        </a:p>
      </dgm:t>
    </dgm:pt>
    <dgm:pt modelId="{CBAF8F3D-3F35-4246-88D9-4540EE204772}" type="parTrans" cxnId="{2A9E4742-3189-4E8A-B7B2-C574C464FCAD}">
      <dgm:prSet/>
      <dgm:spPr/>
      <dgm:t>
        <a:bodyPr/>
        <a:lstStyle/>
        <a:p>
          <a:endParaRPr lang="en-IN"/>
        </a:p>
      </dgm:t>
    </dgm:pt>
    <dgm:pt modelId="{5DB95885-606F-487D-A168-2B01967E4EF0}" type="sibTrans" cxnId="{2A9E4742-3189-4E8A-B7B2-C574C464FCAD}">
      <dgm:prSet/>
      <dgm:spPr/>
      <dgm:t>
        <a:bodyPr/>
        <a:lstStyle/>
        <a:p>
          <a:endParaRPr lang="en-IN"/>
        </a:p>
      </dgm:t>
    </dgm:pt>
    <dgm:pt modelId="{FF72FB3F-362E-4588-B106-41E897A21D35}">
      <dgm:prSet/>
      <dgm:spPr/>
      <dgm:t>
        <a:bodyPr/>
        <a:lstStyle/>
        <a:p>
          <a:r>
            <a:rPr lang="en-IN" dirty="0">
              <a:latin typeface="Times New Roman" panose="02020603050405020304" pitchFamily="18" charset="0"/>
              <a:cs typeface="Times New Roman" panose="02020603050405020304" pitchFamily="18" charset="0"/>
            </a:rPr>
            <a:t>Introduction</a:t>
          </a:r>
          <a:r>
            <a:rPr lang="en-IN" dirty="0"/>
            <a:t> to EMC testing of ICs</a:t>
          </a:r>
        </a:p>
      </dgm:t>
    </dgm:pt>
    <dgm:pt modelId="{1177E2A6-54B6-47DA-817D-B2A3D469C3AE}" type="parTrans" cxnId="{2CA86A2A-F5AE-412A-8D71-9F8A7C1D485E}">
      <dgm:prSet/>
      <dgm:spPr/>
      <dgm:t>
        <a:bodyPr/>
        <a:lstStyle/>
        <a:p>
          <a:endParaRPr lang="en-IN"/>
        </a:p>
      </dgm:t>
    </dgm:pt>
    <dgm:pt modelId="{238F1BCF-0A0E-4213-B763-C3B822157288}" type="sibTrans" cxnId="{2CA86A2A-F5AE-412A-8D71-9F8A7C1D485E}">
      <dgm:prSet/>
      <dgm:spPr/>
      <dgm:t>
        <a:bodyPr/>
        <a:lstStyle/>
        <a:p>
          <a:endParaRPr lang="en-IN"/>
        </a:p>
      </dgm:t>
    </dgm:pt>
    <dgm:pt modelId="{7839F0CA-E382-43DF-941D-0CF9306356C0}" type="pres">
      <dgm:prSet presAssocID="{6891CF9C-DD9A-4F43-BD55-9AF867ADDF4E}" presName="Name0" presStyleCnt="0">
        <dgm:presLayoutVars>
          <dgm:dir/>
          <dgm:animLvl val="lvl"/>
          <dgm:resizeHandles val="exact"/>
        </dgm:presLayoutVars>
      </dgm:prSet>
      <dgm:spPr/>
    </dgm:pt>
    <dgm:pt modelId="{6CAD0CB6-0107-4620-A32B-DB7042CB4BB2}" type="pres">
      <dgm:prSet presAssocID="{E0574A3C-C9F5-42F0-AB62-36CC492B0941}" presName="linNode" presStyleCnt="0"/>
      <dgm:spPr/>
    </dgm:pt>
    <dgm:pt modelId="{F4DE643E-4AB0-4DB3-9AE9-3F615DF09014}" type="pres">
      <dgm:prSet presAssocID="{E0574A3C-C9F5-42F0-AB62-36CC492B0941}" presName="parentText" presStyleLbl="node1" presStyleIdx="0" presStyleCnt="9">
        <dgm:presLayoutVars>
          <dgm:chMax val="1"/>
          <dgm:bulletEnabled val="1"/>
        </dgm:presLayoutVars>
      </dgm:prSet>
      <dgm:spPr/>
    </dgm:pt>
    <dgm:pt modelId="{DF384D3D-7DBB-4F5F-B55C-347BBD6AEF6B}" type="pres">
      <dgm:prSet presAssocID="{C04203B4-4EFD-4B3C-A797-DEE00EB89C62}" presName="sp" presStyleCnt="0"/>
      <dgm:spPr/>
    </dgm:pt>
    <dgm:pt modelId="{6F40558D-D528-4F95-9EF5-813AC80FC4BB}" type="pres">
      <dgm:prSet presAssocID="{FF72FB3F-362E-4588-B106-41E897A21D35}" presName="linNode" presStyleCnt="0"/>
      <dgm:spPr/>
    </dgm:pt>
    <dgm:pt modelId="{E10F99F2-3668-4A14-8339-2445B835C87C}" type="pres">
      <dgm:prSet presAssocID="{FF72FB3F-362E-4588-B106-41E897A21D35}" presName="parentText" presStyleLbl="node1" presStyleIdx="1" presStyleCnt="9">
        <dgm:presLayoutVars>
          <dgm:chMax val="1"/>
          <dgm:bulletEnabled val="1"/>
        </dgm:presLayoutVars>
      </dgm:prSet>
      <dgm:spPr/>
    </dgm:pt>
    <dgm:pt modelId="{0A8DF07B-9602-47CC-B9A4-C35896465C20}" type="pres">
      <dgm:prSet presAssocID="{238F1BCF-0A0E-4213-B763-C3B822157288}" presName="sp" presStyleCnt="0"/>
      <dgm:spPr/>
    </dgm:pt>
    <dgm:pt modelId="{7C4E659A-D9D1-4256-848A-1D73F780B1B1}" type="pres">
      <dgm:prSet presAssocID="{D2936196-4F53-41E3-8CF9-3649705BB37F}" presName="linNode" presStyleCnt="0"/>
      <dgm:spPr/>
    </dgm:pt>
    <dgm:pt modelId="{E5526696-FFD9-4704-8CD1-BBDEBD77D592}" type="pres">
      <dgm:prSet presAssocID="{D2936196-4F53-41E3-8CF9-3649705BB37F}" presName="parentText" presStyleLbl="node1" presStyleIdx="2" presStyleCnt="9">
        <dgm:presLayoutVars>
          <dgm:chMax val="1"/>
          <dgm:bulletEnabled val="1"/>
        </dgm:presLayoutVars>
      </dgm:prSet>
      <dgm:spPr/>
    </dgm:pt>
    <dgm:pt modelId="{F37B1EB4-E6C9-4FE2-B1B5-9FBE7B0EC6DA}" type="pres">
      <dgm:prSet presAssocID="{5DB95885-606F-487D-A168-2B01967E4EF0}" presName="sp" presStyleCnt="0"/>
      <dgm:spPr/>
    </dgm:pt>
    <dgm:pt modelId="{DB361254-C934-496F-9C6E-86DD1EBE26B8}" type="pres">
      <dgm:prSet presAssocID="{A450D78A-CB58-44EA-8113-801E25E0135F}" presName="linNode" presStyleCnt="0"/>
      <dgm:spPr/>
    </dgm:pt>
    <dgm:pt modelId="{5D10ECFE-E698-4814-BB44-1CD29E0BFE22}" type="pres">
      <dgm:prSet presAssocID="{A450D78A-CB58-44EA-8113-801E25E0135F}" presName="parentText" presStyleLbl="node1" presStyleIdx="3" presStyleCnt="9">
        <dgm:presLayoutVars>
          <dgm:chMax val="1"/>
          <dgm:bulletEnabled val="1"/>
        </dgm:presLayoutVars>
      </dgm:prSet>
      <dgm:spPr/>
    </dgm:pt>
    <dgm:pt modelId="{593A561A-5765-4DD9-B9DB-2868021C55D9}" type="pres">
      <dgm:prSet presAssocID="{153FD3A1-AD06-47C8-9D7F-418ECD43D734}" presName="sp" presStyleCnt="0"/>
      <dgm:spPr/>
    </dgm:pt>
    <dgm:pt modelId="{3DB174B8-2226-44CE-9DC0-9CF16079031D}" type="pres">
      <dgm:prSet presAssocID="{74B528D5-A1AA-4501-86AC-D908E88ABA92}" presName="linNode" presStyleCnt="0"/>
      <dgm:spPr/>
    </dgm:pt>
    <dgm:pt modelId="{2BA9A564-A7DC-41A6-BF9A-AB172FCC7087}" type="pres">
      <dgm:prSet presAssocID="{74B528D5-A1AA-4501-86AC-D908E88ABA92}" presName="parentText" presStyleLbl="node1" presStyleIdx="4" presStyleCnt="9">
        <dgm:presLayoutVars>
          <dgm:chMax val="1"/>
          <dgm:bulletEnabled val="1"/>
        </dgm:presLayoutVars>
      </dgm:prSet>
      <dgm:spPr/>
    </dgm:pt>
    <dgm:pt modelId="{96639A04-4BEB-4A77-B3A9-E9615BA7E4DC}" type="pres">
      <dgm:prSet presAssocID="{BAF117CD-8606-4BEE-9EF5-F36B02704E70}" presName="sp" presStyleCnt="0"/>
      <dgm:spPr/>
    </dgm:pt>
    <dgm:pt modelId="{4D68F244-9AE8-4600-9A7D-B4683B0F2324}" type="pres">
      <dgm:prSet presAssocID="{41A43390-4812-4093-B3B3-B619F6ED3D6F}" presName="linNode" presStyleCnt="0"/>
      <dgm:spPr/>
    </dgm:pt>
    <dgm:pt modelId="{37651D55-5A20-45CF-8DFA-CA6A7EF6D049}" type="pres">
      <dgm:prSet presAssocID="{41A43390-4812-4093-B3B3-B619F6ED3D6F}" presName="parentText" presStyleLbl="node1" presStyleIdx="5" presStyleCnt="9">
        <dgm:presLayoutVars>
          <dgm:chMax val="1"/>
          <dgm:bulletEnabled val="1"/>
        </dgm:presLayoutVars>
      </dgm:prSet>
      <dgm:spPr/>
    </dgm:pt>
    <dgm:pt modelId="{125CB6CF-58FF-47EF-A41A-4B2019DD863C}" type="pres">
      <dgm:prSet presAssocID="{67EB2B12-A2C7-4086-8DC3-CDC70BB5FD78}" presName="sp" presStyleCnt="0"/>
      <dgm:spPr/>
    </dgm:pt>
    <dgm:pt modelId="{DDB1E2BE-F9B5-4E8D-B843-649E52D80E55}" type="pres">
      <dgm:prSet presAssocID="{014F3A50-2127-4BE1-84CB-3C59D2F01ECB}" presName="linNode" presStyleCnt="0"/>
      <dgm:spPr/>
    </dgm:pt>
    <dgm:pt modelId="{D65CC54A-1136-48DE-AB38-87A824DC3CF0}" type="pres">
      <dgm:prSet presAssocID="{014F3A50-2127-4BE1-84CB-3C59D2F01ECB}" presName="parentText" presStyleLbl="node1" presStyleIdx="6" presStyleCnt="9">
        <dgm:presLayoutVars>
          <dgm:chMax val="1"/>
          <dgm:bulletEnabled val="1"/>
        </dgm:presLayoutVars>
      </dgm:prSet>
      <dgm:spPr/>
    </dgm:pt>
    <dgm:pt modelId="{A8543E6F-5EED-420E-AEFB-63969089942D}" type="pres">
      <dgm:prSet presAssocID="{2749A84D-9836-4AD2-B84F-5BDD5FBD5260}" presName="sp" presStyleCnt="0"/>
      <dgm:spPr/>
    </dgm:pt>
    <dgm:pt modelId="{C3E6B037-F8A0-4C82-9778-3D8B84DF3B74}" type="pres">
      <dgm:prSet presAssocID="{CB27C4DB-A074-4D89-98DF-878519E40ABA}" presName="linNode" presStyleCnt="0"/>
      <dgm:spPr/>
    </dgm:pt>
    <dgm:pt modelId="{9E0A9AB3-2401-48E2-B767-C9BC699027A3}" type="pres">
      <dgm:prSet presAssocID="{CB27C4DB-A074-4D89-98DF-878519E40ABA}" presName="parentText" presStyleLbl="node1" presStyleIdx="7" presStyleCnt="9">
        <dgm:presLayoutVars>
          <dgm:chMax val="1"/>
          <dgm:bulletEnabled val="1"/>
        </dgm:presLayoutVars>
      </dgm:prSet>
      <dgm:spPr/>
    </dgm:pt>
    <dgm:pt modelId="{3FC28119-8F12-4B47-B24F-687D890A3C1C}" type="pres">
      <dgm:prSet presAssocID="{68EE200A-B3DB-475E-A1F7-0D581EA9D474}" presName="sp" presStyleCnt="0"/>
      <dgm:spPr/>
    </dgm:pt>
    <dgm:pt modelId="{34090137-F960-43CF-8153-C379FC5A87E3}" type="pres">
      <dgm:prSet presAssocID="{6435F28E-3344-41EF-BD70-FCFEAC3F91A5}" presName="linNode" presStyleCnt="0"/>
      <dgm:spPr/>
    </dgm:pt>
    <dgm:pt modelId="{46AC0B79-5371-46E2-B034-EE7FEFD94365}" type="pres">
      <dgm:prSet presAssocID="{6435F28E-3344-41EF-BD70-FCFEAC3F91A5}" presName="parentText" presStyleLbl="node1" presStyleIdx="8" presStyleCnt="9">
        <dgm:presLayoutVars>
          <dgm:chMax val="1"/>
          <dgm:bulletEnabled val="1"/>
        </dgm:presLayoutVars>
      </dgm:prSet>
      <dgm:spPr/>
    </dgm:pt>
  </dgm:ptLst>
  <dgm:cxnLst>
    <dgm:cxn modelId="{10B7DA0E-CF45-43F0-91E6-9B32CE6120E8}" srcId="{6891CF9C-DD9A-4F43-BD55-9AF867ADDF4E}" destId="{014F3A50-2127-4BE1-84CB-3C59D2F01ECB}" srcOrd="6" destOrd="0" parTransId="{05E20D67-690E-46F0-AC5E-87FDECF23CBC}" sibTransId="{2749A84D-9836-4AD2-B84F-5BDD5FBD5260}"/>
    <dgm:cxn modelId="{20CAF90F-7B0F-457F-89D5-A2134C7512AA}" type="presOf" srcId="{CB27C4DB-A074-4D89-98DF-878519E40ABA}" destId="{9E0A9AB3-2401-48E2-B767-C9BC699027A3}" srcOrd="0" destOrd="0" presId="urn:microsoft.com/office/officeart/2005/8/layout/vList5"/>
    <dgm:cxn modelId="{9DB5DB13-4779-40CD-924E-D27CA3AB86D7}" type="presOf" srcId="{41A43390-4812-4093-B3B3-B619F6ED3D6F}" destId="{37651D55-5A20-45CF-8DFA-CA6A7EF6D049}" srcOrd="0" destOrd="0" presId="urn:microsoft.com/office/officeart/2005/8/layout/vList5"/>
    <dgm:cxn modelId="{B0A00622-7339-4422-A660-A82A54AECC5F}" type="presOf" srcId="{E0574A3C-C9F5-42F0-AB62-36CC492B0941}" destId="{F4DE643E-4AB0-4DB3-9AE9-3F615DF09014}" srcOrd="0" destOrd="0" presId="urn:microsoft.com/office/officeart/2005/8/layout/vList5"/>
    <dgm:cxn modelId="{2CA86A2A-F5AE-412A-8D71-9F8A7C1D485E}" srcId="{6891CF9C-DD9A-4F43-BD55-9AF867ADDF4E}" destId="{FF72FB3F-362E-4588-B106-41E897A21D35}" srcOrd="1" destOrd="0" parTransId="{1177E2A6-54B6-47DA-817D-B2A3D469C3AE}" sibTransId="{238F1BCF-0A0E-4213-B763-C3B822157288}"/>
    <dgm:cxn modelId="{AB45023E-6208-43A8-B19C-CBD5F7FD0749}" type="presOf" srcId="{D2936196-4F53-41E3-8CF9-3649705BB37F}" destId="{E5526696-FFD9-4704-8CD1-BBDEBD77D592}" srcOrd="0" destOrd="0" presId="urn:microsoft.com/office/officeart/2005/8/layout/vList5"/>
    <dgm:cxn modelId="{2A9E4742-3189-4E8A-B7B2-C574C464FCAD}" srcId="{6891CF9C-DD9A-4F43-BD55-9AF867ADDF4E}" destId="{D2936196-4F53-41E3-8CF9-3649705BB37F}" srcOrd="2" destOrd="0" parTransId="{CBAF8F3D-3F35-4246-88D9-4540EE204772}" sibTransId="{5DB95885-606F-487D-A168-2B01967E4EF0}"/>
    <dgm:cxn modelId="{242D9242-633B-4E07-B810-4DD96FAF6256}" srcId="{6891CF9C-DD9A-4F43-BD55-9AF867ADDF4E}" destId="{CB27C4DB-A074-4D89-98DF-878519E40ABA}" srcOrd="7" destOrd="0" parTransId="{263324FE-31EC-457D-BE86-9FA20D7CF814}" sibTransId="{68EE200A-B3DB-475E-A1F7-0D581EA9D474}"/>
    <dgm:cxn modelId="{B520C468-9C20-47A6-91C2-9436116F3696}" type="presOf" srcId="{6891CF9C-DD9A-4F43-BD55-9AF867ADDF4E}" destId="{7839F0CA-E382-43DF-941D-0CF9306356C0}" srcOrd="0" destOrd="0" presId="urn:microsoft.com/office/officeart/2005/8/layout/vList5"/>
    <dgm:cxn modelId="{217D8D6A-85F4-498D-9EAE-BD8F7BDE3AD9}" srcId="{6891CF9C-DD9A-4F43-BD55-9AF867ADDF4E}" destId="{E0574A3C-C9F5-42F0-AB62-36CC492B0941}" srcOrd="0" destOrd="0" parTransId="{D29608BF-9F21-42AE-A24C-7DFCF1512979}" sibTransId="{C04203B4-4EFD-4B3C-A797-DEE00EB89C62}"/>
    <dgm:cxn modelId="{8D08344F-6779-42E6-B8E9-0FFB194AAB07}" type="presOf" srcId="{FF72FB3F-362E-4588-B106-41E897A21D35}" destId="{E10F99F2-3668-4A14-8339-2445B835C87C}" srcOrd="0" destOrd="0" presId="urn:microsoft.com/office/officeart/2005/8/layout/vList5"/>
    <dgm:cxn modelId="{9DF8BB51-6644-4951-A68B-793C0579E96B}" type="presOf" srcId="{014F3A50-2127-4BE1-84CB-3C59D2F01ECB}" destId="{D65CC54A-1136-48DE-AB38-87A824DC3CF0}" srcOrd="0" destOrd="0" presId="urn:microsoft.com/office/officeart/2005/8/layout/vList5"/>
    <dgm:cxn modelId="{BC853C56-374A-4740-8254-9EEE0194CC4C}" type="presOf" srcId="{A450D78A-CB58-44EA-8113-801E25E0135F}" destId="{5D10ECFE-E698-4814-BB44-1CD29E0BFE22}" srcOrd="0" destOrd="0" presId="urn:microsoft.com/office/officeart/2005/8/layout/vList5"/>
    <dgm:cxn modelId="{F93DBA89-2247-45DB-91AA-CF4376843739}" srcId="{6891CF9C-DD9A-4F43-BD55-9AF867ADDF4E}" destId="{A450D78A-CB58-44EA-8113-801E25E0135F}" srcOrd="3" destOrd="0" parTransId="{1C089BAB-FF3C-400F-ACC3-4E900C482BAA}" sibTransId="{153FD3A1-AD06-47C8-9D7F-418ECD43D734}"/>
    <dgm:cxn modelId="{971C35AE-25A2-4E44-B330-3200A61D67C8}" srcId="{6891CF9C-DD9A-4F43-BD55-9AF867ADDF4E}" destId="{74B528D5-A1AA-4501-86AC-D908E88ABA92}" srcOrd="4" destOrd="0" parTransId="{C49B1A1C-724F-48EE-A014-B27AE1150B61}" sibTransId="{BAF117CD-8606-4BEE-9EF5-F36B02704E70}"/>
    <dgm:cxn modelId="{8E9B8DCA-C200-43EA-ABCF-FF4BAF0BB6DA}" srcId="{6891CF9C-DD9A-4F43-BD55-9AF867ADDF4E}" destId="{6435F28E-3344-41EF-BD70-FCFEAC3F91A5}" srcOrd="8" destOrd="0" parTransId="{C774568E-4CB0-4533-8BA6-3D9B4C2ECFA9}" sibTransId="{58A68214-D012-4913-8436-1092AEADCAC5}"/>
    <dgm:cxn modelId="{DD9B4EDC-8191-46FE-A1B5-E55DBB24EEE0}" srcId="{6891CF9C-DD9A-4F43-BD55-9AF867ADDF4E}" destId="{41A43390-4812-4093-B3B3-B619F6ED3D6F}" srcOrd="5" destOrd="0" parTransId="{D6C81715-A8E8-4882-9AAB-D5B8F356BC80}" sibTransId="{67EB2B12-A2C7-4086-8DC3-CDC70BB5FD78}"/>
    <dgm:cxn modelId="{9C7451ED-AC6A-42EF-A89B-0FCE4A3D15B2}" type="presOf" srcId="{6435F28E-3344-41EF-BD70-FCFEAC3F91A5}" destId="{46AC0B79-5371-46E2-B034-EE7FEFD94365}" srcOrd="0" destOrd="0" presId="urn:microsoft.com/office/officeart/2005/8/layout/vList5"/>
    <dgm:cxn modelId="{5EF0BBFA-C4DE-43BE-86B7-FC0A804C282D}" type="presOf" srcId="{74B528D5-A1AA-4501-86AC-D908E88ABA92}" destId="{2BA9A564-A7DC-41A6-BF9A-AB172FCC7087}" srcOrd="0" destOrd="0" presId="urn:microsoft.com/office/officeart/2005/8/layout/vList5"/>
    <dgm:cxn modelId="{DBA93D2B-C6DD-4273-92BB-9932820E4A99}" type="presParOf" srcId="{7839F0CA-E382-43DF-941D-0CF9306356C0}" destId="{6CAD0CB6-0107-4620-A32B-DB7042CB4BB2}" srcOrd="0" destOrd="0" presId="urn:microsoft.com/office/officeart/2005/8/layout/vList5"/>
    <dgm:cxn modelId="{F80322DA-BB02-471A-975D-1167CDD19605}" type="presParOf" srcId="{6CAD0CB6-0107-4620-A32B-DB7042CB4BB2}" destId="{F4DE643E-4AB0-4DB3-9AE9-3F615DF09014}" srcOrd="0" destOrd="0" presId="urn:microsoft.com/office/officeart/2005/8/layout/vList5"/>
    <dgm:cxn modelId="{EA2CF34E-D0B9-4F28-B3E9-6D1A4775F1FC}" type="presParOf" srcId="{7839F0CA-E382-43DF-941D-0CF9306356C0}" destId="{DF384D3D-7DBB-4F5F-B55C-347BBD6AEF6B}" srcOrd="1" destOrd="0" presId="urn:microsoft.com/office/officeart/2005/8/layout/vList5"/>
    <dgm:cxn modelId="{6DBFCF84-F28D-472C-A665-762ED92E4EAA}" type="presParOf" srcId="{7839F0CA-E382-43DF-941D-0CF9306356C0}" destId="{6F40558D-D528-4F95-9EF5-813AC80FC4BB}" srcOrd="2" destOrd="0" presId="urn:microsoft.com/office/officeart/2005/8/layout/vList5"/>
    <dgm:cxn modelId="{84AAAB68-6EAE-4E19-85F0-931E71CBBFF9}" type="presParOf" srcId="{6F40558D-D528-4F95-9EF5-813AC80FC4BB}" destId="{E10F99F2-3668-4A14-8339-2445B835C87C}" srcOrd="0" destOrd="0" presId="urn:microsoft.com/office/officeart/2005/8/layout/vList5"/>
    <dgm:cxn modelId="{7C1DEAD8-1D1E-4D37-A2A7-0ED84868F95A}" type="presParOf" srcId="{7839F0CA-E382-43DF-941D-0CF9306356C0}" destId="{0A8DF07B-9602-47CC-B9A4-C35896465C20}" srcOrd="3" destOrd="0" presId="urn:microsoft.com/office/officeart/2005/8/layout/vList5"/>
    <dgm:cxn modelId="{D3BE0DE3-E124-495F-A9F9-ADF64FAC1FD5}" type="presParOf" srcId="{7839F0CA-E382-43DF-941D-0CF9306356C0}" destId="{7C4E659A-D9D1-4256-848A-1D73F780B1B1}" srcOrd="4" destOrd="0" presId="urn:microsoft.com/office/officeart/2005/8/layout/vList5"/>
    <dgm:cxn modelId="{4A8753D8-E38E-4273-B971-7E7467F442A2}" type="presParOf" srcId="{7C4E659A-D9D1-4256-848A-1D73F780B1B1}" destId="{E5526696-FFD9-4704-8CD1-BBDEBD77D592}" srcOrd="0" destOrd="0" presId="urn:microsoft.com/office/officeart/2005/8/layout/vList5"/>
    <dgm:cxn modelId="{D5E75281-9F70-4056-8BC5-1F2A9DC141A2}" type="presParOf" srcId="{7839F0CA-E382-43DF-941D-0CF9306356C0}" destId="{F37B1EB4-E6C9-4FE2-B1B5-9FBE7B0EC6DA}" srcOrd="5" destOrd="0" presId="urn:microsoft.com/office/officeart/2005/8/layout/vList5"/>
    <dgm:cxn modelId="{D38E8B57-2B26-45AC-B20A-875AF878CE00}" type="presParOf" srcId="{7839F0CA-E382-43DF-941D-0CF9306356C0}" destId="{DB361254-C934-496F-9C6E-86DD1EBE26B8}" srcOrd="6" destOrd="0" presId="urn:microsoft.com/office/officeart/2005/8/layout/vList5"/>
    <dgm:cxn modelId="{6AF7A3C6-F734-4A4E-98B9-BDF7D07D2A4E}" type="presParOf" srcId="{DB361254-C934-496F-9C6E-86DD1EBE26B8}" destId="{5D10ECFE-E698-4814-BB44-1CD29E0BFE22}" srcOrd="0" destOrd="0" presId="urn:microsoft.com/office/officeart/2005/8/layout/vList5"/>
    <dgm:cxn modelId="{DDCAB06B-5857-4D93-A0C5-26F95BD76979}" type="presParOf" srcId="{7839F0CA-E382-43DF-941D-0CF9306356C0}" destId="{593A561A-5765-4DD9-B9DB-2868021C55D9}" srcOrd="7" destOrd="0" presId="urn:microsoft.com/office/officeart/2005/8/layout/vList5"/>
    <dgm:cxn modelId="{7A09C3E4-24FC-41C7-8E1C-E8DFB51E2E9F}" type="presParOf" srcId="{7839F0CA-E382-43DF-941D-0CF9306356C0}" destId="{3DB174B8-2226-44CE-9DC0-9CF16079031D}" srcOrd="8" destOrd="0" presId="urn:microsoft.com/office/officeart/2005/8/layout/vList5"/>
    <dgm:cxn modelId="{88630FFA-C848-4527-9CCF-B69FFE711786}" type="presParOf" srcId="{3DB174B8-2226-44CE-9DC0-9CF16079031D}" destId="{2BA9A564-A7DC-41A6-BF9A-AB172FCC7087}" srcOrd="0" destOrd="0" presId="urn:microsoft.com/office/officeart/2005/8/layout/vList5"/>
    <dgm:cxn modelId="{A404EB19-C655-4002-8D88-8FA5C6E9B52C}" type="presParOf" srcId="{7839F0CA-E382-43DF-941D-0CF9306356C0}" destId="{96639A04-4BEB-4A77-B3A9-E9615BA7E4DC}" srcOrd="9" destOrd="0" presId="urn:microsoft.com/office/officeart/2005/8/layout/vList5"/>
    <dgm:cxn modelId="{D98F86AA-A769-46B5-8B71-5D7DED5BFA82}" type="presParOf" srcId="{7839F0CA-E382-43DF-941D-0CF9306356C0}" destId="{4D68F244-9AE8-4600-9A7D-B4683B0F2324}" srcOrd="10" destOrd="0" presId="urn:microsoft.com/office/officeart/2005/8/layout/vList5"/>
    <dgm:cxn modelId="{49465667-672D-41F5-B4D9-BC18276EB6F0}" type="presParOf" srcId="{4D68F244-9AE8-4600-9A7D-B4683B0F2324}" destId="{37651D55-5A20-45CF-8DFA-CA6A7EF6D049}" srcOrd="0" destOrd="0" presId="urn:microsoft.com/office/officeart/2005/8/layout/vList5"/>
    <dgm:cxn modelId="{9F406641-4817-421B-B95C-83DC34639F8E}" type="presParOf" srcId="{7839F0CA-E382-43DF-941D-0CF9306356C0}" destId="{125CB6CF-58FF-47EF-A41A-4B2019DD863C}" srcOrd="11" destOrd="0" presId="urn:microsoft.com/office/officeart/2005/8/layout/vList5"/>
    <dgm:cxn modelId="{E80E88A3-2C54-4FD4-8071-888DD6062868}" type="presParOf" srcId="{7839F0CA-E382-43DF-941D-0CF9306356C0}" destId="{DDB1E2BE-F9B5-4E8D-B843-649E52D80E55}" srcOrd="12" destOrd="0" presId="urn:microsoft.com/office/officeart/2005/8/layout/vList5"/>
    <dgm:cxn modelId="{E3D4554D-D773-4F0E-A5B0-BA92B487F4CE}" type="presParOf" srcId="{DDB1E2BE-F9B5-4E8D-B843-649E52D80E55}" destId="{D65CC54A-1136-48DE-AB38-87A824DC3CF0}" srcOrd="0" destOrd="0" presId="urn:microsoft.com/office/officeart/2005/8/layout/vList5"/>
    <dgm:cxn modelId="{E41BE5ED-B297-4FEB-BF7F-99EE4182EA72}" type="presParOf" srcId="{7839F0CA-E382-43DF-941D-0CF9306356C0}" destId="{A8543E6F-5EED-420E-AEFB-63969089942D}" srcOrd="13" destOrd="0" presId="urn:microsoft.com/office/officeart/2005/8/layout/vList5"/>
    <dgm:cxn modelId="{09E9B7A6-DEFD-4E59-9F07-FEDAF98901CC}" type="presParOf" srcId="{7839F0CA-E382-43DF-941D-0CF9306356C0}" destId="{C3E6B037-F8A0-4C82-9778-3D8B84DF3B74}" srcOrd="14" destOrd="0" presId="urn:microsoft.com/office/officeart/2005/8/layout/vList5"/>
    <dgm:cxn modelId="{484C91D5-E7DA-48C3-898F-B667C8A7DB83}" type="presParOf" srcId="{C3E6B037-F8A0-4C82-9778-3D8B84DF3B74}" destId="{9E0A9AB3-2401-48E2-B767-C9BC699027A3}" srcOrd="0" destOrd="0" presId="urn:microsoft.com/office/officeart/2005/8/layout/vList5"/>
    <dgm:cxn modelId="{550533A3-0340-411A-859D-B4AB1F59EE19}" type="presParOf" srcId="{7839F0CA-E382-43DF-941D-0CF9306356C0}" destId="{3FC28119-8F12-4B47-B24F-687D890A3C1C}" srcOrd="15" destOrd="0" presId="urn:microsoft.com/office/officeart/2005/8/layout/vList5"/>
    <dgm:cxn modelId="{A6351A9F-2CDC-4119-9E6B-2D384529C290}" type="presParOf" srcId="{7839F0CA-E382-43DF-941D-0CF9306356C0}" destId="{34090137-F960-43CF-8153-C379FC5A87E3}" srcOrd="16" destOrd="0" presId="urn:microsoft.com/office/officeart/2005/8/layout/vList5"/>
    <dgm:cxn modelId="{2465E921-2EF5-4FA4-B6CE-081F8663711E}" type="presParOf" srcId="{34090137-F960-43CF-8153-C379FC5A87E3}" destId="{46AC0B79-5371-46E2-B034-EE7FEFD94365}"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DE643E-4AB0-4DB3-9AE9-3F615DF09014}">
      <dsp:nvSpPr>
        <dsp:cNvPr id="0" name=""/>
        <dsp:cNvSpPr/>
      </dsp:nvSpPr>
      <dsp:spPr>
        <a:xfrm>
          <a:off x="3552892" y="1332"/>
          <a:ext cx="3997003" cy="504504"/>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Times New Roman" panose="02020603050405020304" pitchFamily="18" charset="0"/>
              <a:cs typeface="Times New Roman" panose="02020603050405020304" pitchFamily="18" charset="0"/>
            </a:rPr>
            <a:t>Validation and testing of ICs</a:t>
          </a:r>
        </a:p>
      </dsp:txBody>
      <dsp:txXfrm>
        <a:off x="3577520" y="25960"/>
        <a:ext cx="3947747" cy="455248"/>
      </dsp:txXfrm>
    </dsp:sp>
    <dsp:sp modelId="{E10F99F2-3668-4A14-8339-2445B835C87C}">
      <dsp:nvSpPr>
        <dsp:cNvPr id="0" name=""/>
        <dsp:cNvSpPr/>
      </dsp:nvSpPr>
      <dsp:spPr>
        <a:xfrm>
          <a:off x="3552892" y="531062"/>
          <a:ext cx="3997003" cy="504504"/>
        </a:xfrm>
        <a:prstGeom prst="roundRect">
          <a:avLst/>
        </a:prstGeom>
        <a:gradFill rotWithShape="0">
          <a:gsLst>
            <a:gs pos="0">
              <a:schemeClr val="accent5">
                <a:hueOff val="-844818"/>
                <a:satOff val="-2177"/>
                <a:lumOff val="-1471"/>
                <a:alphaOff val="0"/>
                <a:satMod val="103000"/>
                <a:lumMod val="102000"/>
                <a:tint val="94000"/>
              </a:schemeClr>
            </a:gs>
            <a:gs pos="50000">
              <a:schemeClr val="accent5">
                <a:hueOff val="-844818"/>
                <a:satOff val="-2177"/>
                <a:lumOff val="-1471"/>
                <a:alphaOff val="0"/>
                <a:satMod val="110000"/>
                <a:lumMod val="100000"/>
                <a:shade val="100000"/>
              </a:schemeClr>
            </a:gs>
            <a:gs pos="100000">
              <a:schemeClr val="accent5">
                <a:hueOff val="-844818"/>
                <a:satOff val="-2177"/>
                <a:lumOff val="-1471"/>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Times New Roman" panose="02020603050405020304" pitchFamily="18" charset="0"/>
              <a:cs typeface="Times New Roman" panose="02020603050405020304" pitchFamily="18" charset="0"/>
            </a:rPr>
            <a:t>Introduction</a:t>
          </a:r>
          <a:r>
            <a:rPr lang="en-IN" sz="2100" kern="1200" dirty="0"/>
            <a:t> to EMC testing of ICs</a:t>
          </a:r>
        </a:p>
      </dsp:txBody>
      <dsp:txXfrm>
        <a:off x="3577520" y="555690"/>
        <a:ext cx="3947747" cy="455248"/>
      </dsp:txXfrm>
    </dsp:sp>
    <dsp:sp modelId="{E5526696-FFD9-4704-8CD1-BBDEBD77D592}">
      <dsp:nvSpPr>
        <dsp:cNvPr id="0" name=""/>
        <dsp:cNvSpPr/>
      </dsp:nvSpPr>
      <dsp:spPr>
        <a:xfrm>
          <a:off x="3552892" y="1060792"/>
          <a:ext cx="3997003" cy="504504"/>
        </a:xfrm>
        <a:prstGeom prst="roundRect">
          <a:avLst/>
        </a:prstGeom>
        <a:gradFill rotWithShape="0">
          <a:gsLst>
            <a:gs pos="0">
              <a:schemeClr val="accent5">
                <a:hueOff val="-1689636"/>
                <a:satOff val="-4355"/>
                <a:lumOff val="-2941"/>
                <a:alphaOff val="0"/>
                <a:satMod val="103000"/>
                <a:lumMod val="102000"/>
                <a:tint val="94000"/>
              </a:schemeClr>
            </a:gs>
            <a:gs pos="50000">
              <a:schemeClr val="accent5">
                <a:hueOff val="-1689636"/>
                <a:satOff val="-4355"/>
                <a:lumOff val="-2941"/>
                <a:alphaOff val="0"/>
                <a:satMod val="110000"/>
                <a:lumMod val="100000"/>
                <a:shade val="100000"/>
              </a:schemeClr>
            </a:gs>
            <a:gs pos="100000">
              <a:schemeClr val="accent5">
                <a:hueOff val="-1689636"/>
                <a:satOff val="-4355"/>
                <a:lumOff val="-2941"/>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t>Digital Isolators </a:t>
          </a:r>
        </a:p>
      </dsp:txBody>
      <dsp:txXfrm>
        <a:off x="3577520" y="1085420"/>
        <a:ext cx="3947747" cy="455248"/>
      </dsp:txXfrm>
    </dsp:sp>
    <dsp:sp modelId="{5D10ECFE-E698-4814-BB44-1CD29E0BFE22}">
      <dsp:nvSpPr>
        <dsp:cNvPr id="0" name=""/>
        <dsp:cNvSpPr/>
      </dsp:nvSpPr>
      <dsp:spPr>
        <a:xfrm>
          <a:off x="3552892" y="1590522"/>
          <a:ext cx="3997003" cy="504504"/>
        </a:xfrm>
        <a:prstGeom prst="roundRect">
          <a:avLst/>
        </a:prstGeom>
        <a:gradFill rotWithShape="0">
          <a:gsLst>
            <a:gs pos="0">
              <a:schemeClr val="accent5">
                <a:hueOff val="-2534453"/>
                <a:satOff val="-6532"/>
                <a:lumOff val="-4412"/>
                <a:alphaOff val="0"/>
                <a:satMod val="103000"/>
                <a:lumMod val="102000"/>
                <a:tint val="94000"/>
              </a:schemeClr>
            </a:gs>
            <a:gs pos="50000">
              <a:schemeClr val="accent5">
                <a:hueOff val="-2534453"/>
                <a:satOff val="-6532"/>
                <a:lumOff val="-4412"/>
                <a:alphaOff val="0"/>
                <a:satMod val="110000"/>
                <a:lumMod val="100000"/>
                <a:shade val="100000"/>
              </a:schemeClr>
            </a:gs>
            <a:gs pos="100000">
              <a:schemeClr val="accent5">
                <a:hueOff val="-2534453"/>
                <a:satOff val="-6532"/>
                <a:lumOff val="-441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t>IEC-61000-4</a:t>
          </a:r>
        </a:p>
      </dsp:txBody>
      <dsp:txXfrm>
        <a:off x="3577520" y="1615150"/>
        <a:ext cx="3947747" cy="455248"/>
      </dsp:txXfrm>
    </dsp:sp>
    <dsp:sp modelId="{2BA9A564-A7DC-41A6-BF9A-AB172FCC7087}">
      <dsp:nvSpPr>
        <dsp:cNvPr id="0" name=""/>
        <dsp:cNvSpPr/>
      </dsp:nvSpPr>
      <dsp:spPr>
        <a:xfrm>
          <a:off x="3552892" y="2120252"/>
          <a:ext cx="3997003" cy="504504"/>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t>Block Diagram of RI Testing </a:t>
          </a:r>
        </a:p>
      </dsp:txBody>
      <dsp:txXfrm>
        <a:off x="3577520" y="2144880"/>
        <a:ext cx="3947747" cy="455248"/>
      </dsp:txXfrm>
    </dsp:sp>
    <dsp:sp modelId="{37651D55-5A20-45CF-8DFA-CA6A7EF6D049}">
      <dsp:nvSpPr>
        <dsp:cNvPr id="0" name=""/>
        <dsp:cNvSpPr/>
      </dsp:nvSpPr>
      <dsp:spPr>
        <a:xfrm>
          <a:off x="3552892" y="2649982"/>
          <a:ext cx="3997003" cy="504504"/>
        </a:xfrm>
        <a:prstGeom prst="roundRect">
          <a:avLst/>
        </a:prstGeom>
        <a:gradFill rotWithShape="0">
          <a:gsLst>
            <a:gs pos="0">
              <a:schemeClr val="accent5">
                <a:hueOff val="-4224089"/>
                <a:satOff val="-10887"/>
                <a:lumOff val="-7353"/>
                <a:alphaOff val="0"/>
                <a:satMod val="103000"/>
                <a:lumMod val="102000"/>
                <a:tint val="94000"/>
              </a:schemeClr>
            </a:gs>
            <a:gs pos="50000">
              <a:schemeClr val="accent5">
                <a:hueOff val="-4224089"/>
                <a:satOff val="-10887"/>
                <a:lumOff val="-7353"/>
                <a:alphaOff val="0"/>
                <a:satMod val="110000"/>
                <a:lumMod val="100000"/>
                <a:shade val="100000"/>
              </a:schemeClr>
            </a:gs>
            <a:gs pos="100000">
              <a:schemeClr val="accent5">
                <a:hueOff val="-4224089"/>
                <a:satOff val="-10887"/>
                <a:lumOff val="-7353"/>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t>Earlier Signal Chain Setup </a:t>
          </a:r>
        </a:p>
      </dsp:txBody>
      <dsp:txXfrm>
        <a:off x="3577520" y="2674610"/>
        <a:ext cx="3947747" cy="455248"/>
      </dsp:txXfrm>
    </dsp:sp>
    <dsp:sp modelId="{D65CC54A-1136-48DE-AB38-87A824DC3CF0}">
      <dsp:nvSpPr>
        <dsp:cNvPr id="0" name=""/>
        <dsp:cNvSpPr/>
      </dsp:nvSpPr>
      <dsp:spPr>
        <a:xfrm>
          <a:off x="3552892" y="3179712"/>
          <a:ext cx="3997003" cy="504504"/>
        </a:xfrm>
        <a:prstGeom prst="roundRect">
          <a:avLst/>
        </a:prstGeom>
        <a:gradFill rotWithShape="0">
          <a:gsLst>
            <a:gs pos="0">
              <a:schemeClr val="accent5">
                <a:hueOff val="-5068907"/>
                <a:satOff val="-13064"/>
                <a:lumOff val="-8824"/>
                <a:alphaOff val="0"/>
                <a:satMod val="103000"/>
                <a:lumMod val="102000"/>
                <a:tint val="94000"/>
              </a:schemeClr>
            </a:gs>
            <a:gs pos="50000">
              <a:schemeClr val="accent5">
                <a:hueOff val="-5068907"/>
                <a:satOff val="-13064"/>
                <a:lumOff val="-8824"/>
                <a:alphaOff val="0"/>
                <a:satMod val="110000"/>
                <a:lumMod val="100000"/>
                <a:shade val="100000"/>
              </a:schemeClr>
            </a:gs>
            <a:gs pos="100000">
              <a:schemeClr val="accent5">
                <a:hueOff val="-5068907"/>
                <a:satOff val="-13064"/>
                <a:lumOff val="-882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t>Proposed Testing Procedure </a:t>
          </a:r>
        </a:p>
      </dsp:txBody>
      <dsp:txXfrm>
        <a:off x="3577520" y="3204340"/>
        <a:ext cx="3947747" cy="455248"/>
      </dsp:txXfrm>
    </dsp:sp>
    <dsp:sp modelId="{9E0A9AB3-2401-48E2-B767-C9BC699027A3}">
      <dsp:nvSpPr>
        <dsp:cNvPr id="0" name=""/>
        <dsp:cNvSpPr/>
      </dsp:nvSpPr>
      <dsp:spPr>
        <a:xfrm>
          <a:off x="3552892" y="3709442"/>
          <a:ext cx="3997003" cy="504504"/>
        </a:xfrm>
        <a:prstGeom prst="roundRect">
          <a:avLst/>
        </a:prstGeom>
        <a:gradFill rotWithShape="0">
          <a:gsLst>
            <a:gs pos="0">
              <a:schemeClr val="accent5">
                <a:hueOff val="-5913725"/>
                <a:satOff val="-15242"/>
                <a:lumOff val="-10294"/>
                <a:alphaOff val="0"/>
                <a:satMod val="103000"/>
                <a:lumMod val="102000"/>
                <a:tint val="94000"/>
              </a:schemeClr>
            </a:gs>
            <a:gs pos="50000">
              <a:schemeClr val="accent5">
                <a:hueOff val="-5913725"/>
                <a:satOff val="-15242"/>
                <a:lumOff val="-10294"/>
                <a:alphaOff val="0"/>
                <a:satMod val="110000"/>
                <a:lumMod val="100000"/>
                <a:shade val="100000"/>
              </a:schemeClr>
            </a:gs>
            <a:gs pos="100000">
              <a:schemeClr val="accent5">
                <a:hueOff val="-5913725"/>
                <a:satOff val="-15242"/>
                <a:lumOff val="-1029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t>Scope of Further Improvement</a:t>
          </a:r>
        </a:p>
      </dsp:txBody>
      <dsp:txXfrm>
        <a:off x="3577520" y="3734070"/>
        <a:ext cx="3947747" cy="455248"/>
      </dsp:txXfrm>
    </dsp:sp>
    <dsp:sp modelId="{46AC0B79-5371-46E2-B034-EE7FEFD94365}">
      <dsp:nvSpPr>
        <dsp:cNvPr id="0" name=""/>
        <dsp:cNvSpPr/>
      </dsp:nvSpPr>
      <dsp:spPr>
        <a:xfrm>
          <a:off x="3552892" y="4239172"/>
          <a:ext cx="3997003" cy="504504"/>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IN" sz="2100" kern="1200" dirty="0">
              <a:latin typeface="Times New Roman" panose="02020603050405020304" pitchFamily="18" charset="0"/>
              <a:cs typeface="Times New Roman" panose="02020603050405020304" pitchFamily="18" charset="0"/>
            </a:rPr>
            <a:t>Question And Answer</a:t>
          </a:r>
        </a:p>
      </dsp:txBody>
      <dsp:txXfrm>
        <a:off x="3577520" y="4263800"/>
        <a:ext cx="3947747" cy="45524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30B819-A202-4D30-A127-350BD8A705C5}" type="datetimeFigureOut">
              <a:rPr lang="en-IN" smtClean="0"/>
              <a:t>06-10-2025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1A6A7D-D85F-4628-80DC-96D2F9D63C96}" type="slidenum">
              <a:rPr lang="en-IN" smtClean="0"/>
              <a:t>‹#›</a:t>
            </a:fld>
            <a:endParaRPr lang="en-IN"/>
          </a:p>
        </p:txBody>
      </p:sp>
    </p:spTree>
    <p:extLst>
      <p:ext uri="{BB962C8B-B14F-4D97-AF65-F5344CB8AC3E}">
        <p14:creationId xmlns:p14="http://schemas.microsoft.com/office/powerpoint/2010/main" val="629740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67B73-1069-F934-F16E-2328C048B6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6263A-3540-3EC6-B48A-B9F4FF058D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A0053C-7F8D-051B-593B-1953DBEF3E25}"/>
              </a:ext>
            </a:extLst>
          </p:cNvPr>
          <p:cNvSpPr>
            <a:spLocks noGrp="1"/>
          </p:cNvSpPr>
          <p:nvPr>
            <p:ph type="dt" sz="half" idx="10"/>
          </p:nvPr>
        </p:nvSpPr>
        <p:spPr/>
        <p:txBody>
          <a:bodyPr/>
          <a:lstStyle/>
          <a:p>
            <a:fld id="{29286987-DA0C-48B9-B0FA-6F26854CAAF8}" type="datetime1">
              <a:rPr lang="en-IN" smtClean="0"/>
              <a:t>06-10-2025</a:t>
            </a:fld>
            <a:endParaRPr lang="en-IN"/>
          </a:p>
        </p:txBody>
      </p:sp>
      <p:sp>
        <p:nvSpPr>
          <p:cNvPr id="5" name="Footer Placeholder 4">
            <a:extLst>
              <a:ext uri="{FF2B5EF4-FFF2-40B4-BE49-F238E27FC236}">
                <a16:creationId xmlns:a16="http://schemas.microsoft.com/office/drawing/2014/main" id="{5FAC9A2D-DDB2-AD17-4E2F-CF74E1EFE9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0A06ED-C3C1-2B05-93D9-657D13C1BA4F}"/>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1664009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6C059-6C91-43AF-9E6A-0DB9013248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D2A4B-E979-F62C-D82B-F0FF64C418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7873E6-1DE7-A9DF-9323-2A96D173B4DD}"/>
              </a:ext>
            </a:extLst>
          </p:cNvPr>
          <p:cNvSpPr>
            <a:spLocks noGrp="1"/>
          </p:cNvSpPr>
          <p:nvPr>
            <p:ph type="dt" sz="half" idx="10"/>
          </p:nvPr>
        </p:nvSpPr>
        <p:spPr/>
        <p:txBody>
          <a:bodyPr/>
          <a:lstStyle/>
          <a:p>
            <a:fld id="{78F25665-48B4-498E-9FE0-E3640C610815}" type="datetime1">
              <a:rPr lang="en-IN" smtClean="0"/>
              <a:t>06-10-2025</a:t>
            </a:fld>
            <a:endParaRPr lang="en-IN"/>
          </a:p>
        </p:txBody>
      </p:sp>
      <p:sp>
        <p:nvSpPr>
          <p:cNvPr id="5" name="Footer Placeholder 4">
            <a:extLst>
              <a:ext uri="{FF2B5EF4-FFF2-40B4-BE49-F238E27FC236}">
                <a16:creationId xmlns:a16="http://schemas.microsoft.com/office/drawing/2014/main" id="{B3E0808B-ED83-3987-A23A-E8774489EF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2A3B22-ED36-05BD-C660-E34053DCD9B2}"/>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3075449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6769-43F4-3F00-8F21-41AF39FFF7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71FBD2-F29B-63A1-DDFC-91B0C2BD7B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76B139-8085-E19C-F31A-BF448ED2C516}"/>
              </a:ext>
            </a:extLst>
          </p:cNvPr>
          <p:cNvSpPr>
            <a:spLocks noGrp="1"/>
          </p:cNvSpPr>
          <p:nvPr>
            <p:ph type="dt" sz="half" idx="10"/>
          </p:nvPr>
        </p:nvSpPr>
        <p:spPr/>
        <p:txBody>
          <a:bodyPr/>
          <a:lstStyle/>
          <a:p>
            <a:fld id="{54E17ECE-4D1A-417B-991D-0BB163283ABB}" type="datetime1">
              <a:rPr lang="en-IN" smtClean="0"/>
              <a:t>06-10-2025</a:t>
            </a:fld>
            <a:endParaRPr lang="en-IN"/>
          </a:p>
        </p:txBody>
      </p:sp>
      <p:sp>
        <p:nvSpPr>
          <p:cNvPr id="5" name="Footer Placeholder 4">
            <a:extLst>
              <a:ext uri="{FF2B5EF4-FFF2-40B4-BE49-F238E27FC236}">
                <a16:creationId xmlns:a16="http://schemas.microsoft.com/office/drawing/2014/main" id="{4862AB98-1536-BA21-3344-C2D65A0619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E6F03C-37F0-789E-2479-945A0CDF0FC6}"/>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3267954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EB5D0-F2D4-AC66-15D0-9E33CAF77B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BFF32C-C8F7-02CE-B5D4-F3F7166D55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0397FB-5C32-F296-C80E-6ABE841C1B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DF606E-FA45-43A0-6502-D5F16846BBF2}"/>
              </a:ext>
            </a:extLst>
          </p:cNvPr>
          <p:cNvSpPr>
            <a:spLocks noGrp="1"/>
          </p:cNvSpPr>
          <p:nvPr>
            <p:ph type="dt" sz="half" idx="10"/>
          </p:nvPr>
        </p:nvSpPr>
        <p:spPr/>
        <p:txBody>
          <a:bodyPr/>
          <a:lstStyle/>
          <a:p>
            <a:fld id="{5E4C7B22-0D2E-44F2-BD90-0B8269B5AC79}" type="datetime1">
              <a:rPr lang="en-IN" smtClean="0"/>
              <a:t>06-10-2025</a:t>
            </a:fld>
            <a:endParaRPr lang="en-IN"/>
          </a:p>
        </p:txBody>
      </p:sp>
      <p:sp>
        <p:nvSpPr>
          <p:cNvPr id="6" name="Footer Placeholder 5">
            <a:extLst>
              <a:ext uri="{FF2B5EF4-FFF2-40B4-BE49-F238E27FC236}">
                <a16:creationId xmlns:a16="http://schemas.microsoft.com/office/drawing/2014/main" id="{D4D9AB8F-90DF-698C-917C-4790BD78FE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49FDC7-80C6-22D1-BFA9-C0AA979FE749}"/>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1080318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F90B9-EB73-B7AC-E59A-917C2D83A3B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C7A9A3-F1EC-8F4E-D88E-28278BC395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1A9630-4836-8C48-B899-488F76BB54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5717D16-A00F-2F2B-134E-63BB56C579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40839F-A95B-0817-465F-77A99E23AB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BF19EB-A8CB-C74E-56FF-3AEA7ECFA1D8}"/>
              </a:ext>
            </a:extLst>
          </p:cNvPr>
          <p:cNvSpPr>
            <a:spLocks noGrp="1"/>
          </p:cNvSpPr>
          <p:nvPr>
            <p:ph type="dt" sz="half" idx="10"/>
          </p:nvPr>
        </p:nvSpPr>
        <p:spPr/>
        <p:txBody>
          <a:bodyPr/>
          <a:lstStyle/>
          <a:p>
            <a:fld id="{A5862AD9-6ECA-4CB3-8305-0282FCAC7CE8}" type="datetime1">
              <a:rPr lang="en-IN" smtClean="0"/>
              <a:t>06-10-2025</a:t>
            </a:fld>
            <a:endParaRPr lang="en-IN"/>
          </a:p>
        </p:txBody>
      </p:sp>
      <p:sp>
        <p:nvSpPr>
          <p:cNvPr id="8" name="Footer Placeholder 7">
            <a:extLst>
              <a:ext uri="{FF2B5EF4-FFF2-40B4-BE49-F238E27FC236}">
                <a16:creationId xmlns:a16="http://schemas.microsoft.com/office/drawing/2014/main" id="{0E1DCDA7-2CE5-9757-42C0-D0FA71EE2B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8B1AA12-6010-0999-587D-8DAC17044A85}"/>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133540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350AA-10DE-F33C-B4CB-21EC993F95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32885A-252C-2022-BF92-6ADFD457214D}"/>
              </a:ext>
            </a:extLst>
          </p:cNvPr>
          <p:cNvSpPr>
            <a:spLocks noGrp="1"/>
          </p:cNvSpPr>
          <p:nvPr>
            <p:ph type="dt" sz="half" idx="10"/>
          </p:nvPr>
        </p:nvSpPr>
        <p:spPr/>
        <p:txBody>
          <a:bodyPr/>
          <a:lstStyle/>
          <a:p>
            <a:fld id="{B2BDD597-E479-48A7-BB9E-667653CA5049}" type="datetime1">
              <a:rPr lang="en-IN" smtClean="0"/>
              <a:t>06-10-2025</a:t>
            </a:fld>
            <a:endParaRPr lang="en-IN"/>
          </a:p>
        </p:txBody>
      </p:sp>
      <p:sp>
        <p:nvSpPr>
          <p:cNvPr id="4" name="Footer Placeholder 3">
            <a:extLst>
              <a:ext uri="{FF2B5EF4-FFF2-40B4-BE49-F238E27FC236}">
                <a16:creationId xmlns:a16="http://schemas.microsoft.com/office/drawing/2014/main" id="{1E9232A1-545C-BA57-72A0-863EA71235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E340DA-8244-A630-3A9B-8067688058DF}"/>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291108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AEFF90-FEA4-87B8-CF1E-D6422C3F1ACD}"/>
              </a:ext>
            </a:extLst>
          </p:cNvPr>
          <p:cNvSpPr>
            <a:spLocks noGrp="1"/>
          </p:cNvSpPr>
          <p:nvPr>
            <p:ph type="dt" sz="half" idx="10"/>
          </p:nvPr>
        </p:nvSpPr>
        <p:spPr/>
        <p:txBody>
          <a:bodyPr/>
          <a:lstStyle/>
          <a:p>
            <a:fld id="{B92AB120-C7C3-462D-BD0B-94C9A2967A90}" type="datetime1">
              <a:rPr lang="en-IN" smtClean="0"/>
              <a:t>06-10-2025</a:t>
            </a:fld>
            <a:endParaRPr lang="en-IN"/>
          </a:p>
        </p:txBody>
      </p:sp>
      <p:sp>
        <p:nvSpPr>
          <p:cNvPr id="3" name="Footer Placeholder 2">
            <a:extLst>
              <a:ext uri="{FF2B5EF4-FFF2-40B4-BE49-F238E27FC236}">
                <a16:creationId xmlns:a16="http://schemas.microsoft.com/office/drawing/2014/main" id="{68B3ECCC-6390-BD90-94E1-57CD51D95E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A6354C-B5CE-426B-3E59-D9B5FDE69C0F}"/>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3418581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55C9C-7366-5F58-E489-E1417006B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698C52-D588-A911-5A0B-5549B810CC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5B7CB3-FC9A-589A-F079-44A9BA200E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F6E9-A509-B693-8C17-973C86991429}"/>
              </a:ext>
            </a:extLst>
          </p:cNvPr>
          <p:cNvSpPr>
            <a:spLocks noGrp="1"/>
          </p:cNvSpPr>
          <p:nvPr>
            <p:ph type="dt" sz="half" idx="10"/>
          </p:nvPr>
        </p:nvSpPr>
        <p:spPr/>
        <p:txBody>
          <a:bodyPr/>
          <a:lstStyle/>
          <a:p>
            <a:fld id="{4995595F-B2E0-4506-917A-9CB4A259411A}" type="datetime1">
              <a:rPr lang="en-IN" smtClean="0"/>
              <a:t>06-10-2025</a:t>
            </a:fld>
            <a:endParaRPr lang="en-IN"/>
          </a:p>
        </p:txBody>
      </p:sp>
      <p:sp>
        <p:nvSpPr>
          <p:cNvPr id="6" name="Footer Placeholder 5">
            <a:extLst>
              <a:ext uri="{FF2B5EF4-FFF2-40B4-BE49-F238E27FC236}">
                <a16:creationId xmlns:a16="http://schemas.microsoft.com/office/drawing/2014/main" id="{25077093-4387-2097-D62D-FAD0FB1E3B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F74311-8B23-56D5-2DF6-F3FEC2B3A6D0}"/>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3584040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4E9D5-2B00-0703-0C0D-C75149FF3A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4281A1-544E-7AC5-E249-61AB099D93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E62330-5C67-0DA7-0E2B-3AB98A68E6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EC6841-9C69-CF5A-18BA-05A32709167B}"/>
              </a:ext>
            </a:extLst>
          </p:cNvPr>
          <p:cNvSpPr>
            <a:spLocks noGrp="1"/>
          </p:cNvSpPr>
          <p:nvPr>
            <p:ph type="dt" sz="half" idx="10"/>
          </p:nvPr>
        </p:nvSpPr>
        <p:spPr/>
        <p:txBody>
          <a:bodyPr/>
          <a:lstStyle/>
          <a:p>
            <a:fld id="{E7ABA6CD-83E3-438C-A96A-DA2D6C071669}" type="datetime1">
              <a:rPr lang="en-IN" smtClean="0"/>
              <a:t>06-10-2025</a:t>
            </a:fld>
            <a:endParaRPr lang="en-IN"/>
          </a:p>
        </p:txBody>
      </p:sp>
      <p:sp>
        <p:nvSpPr>
          <p:cNvPr id="6" name="Footer Placeholder 5">
            <a:extLst>
              <a:ext uri="{FF2B5EF4-FFF2-40B4-BE49-F238E27FC236}">
                <a16:creationId xmlns:a16="http://schemas.microsoft.com/office/drawing/2014/main" id="{DD747875-D953-B7EB-F4DE-FAEA9635A7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C066F7-0170-72D0-D104-11A63ECE4068}"/>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2034425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21034-A36F-4E0E-B573-62972BCB6E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04753B-785B-0E75-291A-51EED1D63A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FA461C-3BBB-228D-C013-66CDEFB6B505}"/>
              </a:ext>
            </a:extLst>
          </p:cNvPr>
          <p:cNvSpPr>
            <a:spLocks noGrp="1"/>
          </p:cNvSpPr>
          <p:nvPr>
            <p:ph type="dt" sz="half" idx="10"/>
          </p:nvPr>
        </p:nvSpPr>
        <p:spPr/>
        <p:txBody>
          <a:bodyPr/>
          <a:lstStyle/>
          <a:p>
            <a:fld id="{CCDB3572-2D53-46E6-9509-28E2097BF9F3}" type="datetime1">
              <a:rPr lang="en-IN" smtClean="0"/>
              <a:t>06-10-2025</a:t>
            </a:fld>
            <a:endParaRPr lang="en-IN"/>
          </a:p>
        </p:txBody>
      </p:sp>
      <p:sp>
        <p:nvSpPr>
          <p:cNvPr id="5" name="Footer Placeholder 4">
            <a:extLst>
              <a:ext uri="{FF2B5EF4-FFF2-40B4-BE49-F238E27FC236}">
                <a16:creationId xmlns:a16="http://schemas.microsoft.com/office/drawing/2014/main" id="{EEF6D03D-71E3-43E4-0F37-88F4FBC78D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900871-E800-ED43-E3FA-768275B7F216}"/>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302467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0D54E4-C7C7-2D7F-3D00-4B997226E1A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EA7F80-CFED-915A-FCB4-ECC0C11BBF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16D072-5393-5261-E5AA-86D34087DFF4}"/>
              </a:ext>
            </a:extLst>
          </p:cNvPr>
          <p:cNvSpPr>
            <a:spLocks noGrp="1"/>
          </p:cNvSpPr>
          <p:nvPr>
            <p:ph type="dt" sz="half" idx="10"/>
          </p:nvPr>
        </p:nvSpPr>
        <p:spPr/>
        <p:txBody>
          <a:bodyPr/>
          <a:lstStyle/>
          <a:p>
            <a:fld id="{9835DC84-63BB-4704-ACB3-7BD46248B0FC}" type="datetime1">
              <a:rPr lang="en-IN" smtClean="0"/>
              <a:t>06-10-2025</a:t>
            </a:fld>
            <a:endParaRPr lang="en-IN"/>
          </a:p>
        </p:txBody>
      </p:sp>
      <p:sp>
        <p:nvSpPr>
          <p:cNvPr id="5" name="Footer Placeholder 4">
            <a:extLst>
              <a:ext uri="{FF2B5EF4-FFF2-40B4-BE49-F238E27FC236}">
                <a16:creationId xmlns:a16="http://schemas.microsoft.com/office/drawing/2014/main" id="{C612079A-EA16-298D-BBE3-E4FDFB569F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CEC992-B296-C2E4-5DD2-F5B4C9874502}"/>
              </a:ext>
            </a:extLst>
          </p:cNvPr>
          <p:cNvSpPr>
            <a:spLocks noGrp="1"/>
          </p:cNvSpPr>
          <p:nvPr>
            <p:ph type="sldNum" sz="quarter" idx="12"/>
          </p:nvPr>
        </p:nvSpPr>
        <p:spPr/>
        <p:txBody>
          <a:bodyPr/>
          <a:lstStyle/>
          <a:p>
            <a:fld id="{D35EF2C4-5B37-4EC4-92A6-F918E903B68D}" type="slidenum">
              <a:rPr lang="en-IN" smtClean="0"/>
              <a:t>‹#›</a:t>
            </a:fld>
            <a:endParaRPr lang="en-IN"/>
          </a:p>
        </p:txBody>
      </p:sp>
    </p:spTree>
    <p:extLst>
      <p:ext uri="{BB962C8B-B14F-4D97-AF65-F5344CB8AC3E}">
        <p14:creationId xmlns:p14="http://schemas.microsoft.com/office/powerpoint/2010/main" val="2159047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3280FD-E9EA-7461-595A-DD36FD1BDF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01347D-E293-03F4-E403-FD031ACC2F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A52C5D-96C0-90A8-F66E-37716DCC7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0A49-14DB-477C-A2CB-902120336147}" type="datetime1">
              <a:rPr lang="en-IN" smtClean="0"/>
              <a:t>06-10-2025</a:t>
            </a:fld>
            <a:endParaRPr lang="en-IN"/>
          </a:p>
        </p:txBody>
      </p:sp>
      <p:sp>
        <p:nvSpPr>
          <p:cNvPr id="5" name="Footer Placeholder 4">
            <a:extLst>
              <a:ext uri="{FF2B5EF4-FFF2-40B4-BE49-F238E27FC236}">
                <a16:creationId xmlns:a16="http://schemas.microsoft.com/office/drawing/2014/main" id="{DF49E9DB-4FA1-D19C-64F6-BA529C34E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5AE1F3C-4533-E9C4-DCBE-777B27F60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5EF2C4-5B37-4EC4-92A6-F918E903B68D}" type="slidenum">
              <a:rPr lang="en-IN" smtClean="0"/>
              <a:t>‹#›</a:t>
            </a:fld>
            <a:endParaRPr lang="en-IN"/>
          </a:p>
        </p:txBody>
      </p:sp>
    </p:spTree>
    <p:extLst>
      <p:ext uri="{BB962C8B-B14F-4D97-AF65-F5344CB8AC3E}">
        <p14:creationId xmlns:p14="http://schemas.microsoft.com/office/powerpoint/2010/main" val="1064645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0E32C8C-A655-3310-F516-AC55AF5FF8BC}"/>
              </a:ext>
            </a:extLst>
          </p:cNvPr>
          <p:cNvSpPr/>
          <p:nvPr/>
        </p:nvSpPr>
        <p:spPr>
          <a:xfrm>
            <a:off x="1702481" y="205866"/>
            <a:ext cx="8787021" cy="707886"/>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Malaviya National Institute of Technology</a:t>
            </a:r>
          </a:p>
        </p:txBody>
      </p:sp>
      <p:pic>
        <p:nvPicPr>
          <p:cNvPr id="1027" name="Picture 3">
            <a:extLst>
              <a:ext uri="{FF2B5EF4-FFF2-40B4-BE49-F238E27FC236}">
                <a16:creationId xmlns:a16="http://schemas.microsoft.com/office/drawing/2014/main" id="{A2C16176-7A76-85A3-EEF3-1449006951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5311159" y="1532114"/>
            <a:ext cx="1569662" cy="158878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AEC7AD0-3F0A-986F-DA93-84DE45C1BE44}"/>
              </a:ext>
            </a:extLst>
          </p:cNvPr>
          <p:cNvSpPr/>
          <p:nvPr/>
        </p:nvSpPr>
        <p:spPr>
          <a:xfrm>
            <a:off x="5381693" y="737924"/>
            <a:ext cx="1428596" cy="707886"/>
          </a:xfrm>
          <a:prstGeom prst="rect">
            <a:avLst/>
          </a:prstGeom>
          <a:noFill/>
        </p:spPr>
        <p:txBody>
          <a:bodyPr wrap="none" lIns="91440" tIns="45720" rIns="91440" bIns="45720">
            <a:spAutoFit/>
          </a:bodyPr>
          <a:lstStyle/>
          <a:p>
            <a:pPr algn="just"/>
            <a:r>
              <a:rPr lang="en-US" sz="4000" b="0" cap="none" spc="0" dirty="0">
                <a:ln w="0"/>
                <a:solidFill>
                  <a:schemeClr val="tx1"/>
                </a:solidFill>
                <a:effectLst>
                  <a:outerShdw blurRad="38100" dist="19050" dir="2700000" algn="tl" rotWithShape="0">
                    <a:schemeClr val="dk1">
                      <a:alpha val="40000"/>
                    </a:schemeClr>
                  </a:outerShdw>
                </a:effectLst>
              </a:rPr>
              <a:t>Jaipur</a:t>
            </a:r>
          </a:p>
        </p:txBody>
      </p:sp>
      <p:sp>
        <p:nvSpPr>
          <p:cNvPr id="8" name="TextBox 7">
            <a:extLst>
              <a:ext uri="{FF2B5EF4-FFF2-40B4-BE49-F238E27FC236}">
                <a16:creationId xmlns:a16="http://schemas.microsoft.com/office/drawing/2014/main" id="{5E80D39C-5C6E-B577-6F54-207CDB8CEEDF}"/>
              </a:ext>
            </a:extLst>
          </p:cNvPr>
          <p:cNvSpPr txBox="1"/>
          <p:nvPr/>
        </p:nvSpPr>
        <p:spPr>
          <a:xfrm>
            <a:off x="3121728" y="3207204"/>
            <a:ext cx="5948526" cy="1569660"/>
          </a:xfrm>
          <a:prstGeom prst="rect">
            <a:avLst/>
          </a:prstGeom>
          <a:noFill/>
        </p:spPr>
        <p:txBody>
          <a:bodyPr wrap="square" rtlCol="0">
            <a:spAutoFit/>
          </a:bodyPr>
          <a:lstStyle/>
          <a:p>
            <a:pPr algn="ctr"/>
            <a:r>
              <a:rPr lang="en-IN" sz="3200" dirty="0">
                <a:latin typeface="Times New Roman" panose="02020603050405020304" pitchFamily="18" charset="0"/>
                <a:cs typeface="Times New Roman" panose="02020603050405020304" pitchFamily="18" charset="0"/>
              </a:rPr>
              <a:t>Presentation </a:t>
            </a:r>
          </a:p>
          <a:p>
            <a:pPr algn="ctr"/>
            <a:r>
              <a:rPr lang="en-IN" sz="3200" dirty="0">
                <a:latin typeface="Times New Roman" panose="02020603050405020304" pitchFamily="18" charset="0"/>
                <a:cs typeface="Times New Roman" panose="02020603050405020304" pitchFamily="18" charset="0"/>
              </a:rPr>
              <a:t>on</a:t>
            </a:r>
          </a:p>
          <a:p>
            <a:pPr algn="ctr"/>
            <a:r>
              <a:rPr lang="en-IN" sz="3200" dirty="0">
                <a:latin typeface="Times New Roman" panose="02020603050405020304" pitchFamily="18" charset="0"/>
                <a:cs typeface="Times New Roman" panose="02020603050405020304" pitchFamily="18" charset="0"/>
              </a:rPr>
              <a:t>Texas Instruments Internship</a:t>
            </a:r>
          </a:p>
        </p:txBody>
      </p:sp>
      <p:sp>
        <p:nvSpPr>
          <p:cNvPr id="9" name="TextBox 8">
            <a:extLst>
              <a:ext uri="{FF2B5EF4-FFF2-40B4-BE49-F238E27FC236}">
                <a16:creationId xmlns:a16="http://schemas.microsoft.com/office/drawing/2014/main" id="{A14B70F3-BE83-F2D4-20FF-01A622165AFC}"/>
              </a:ext>
            </a:extLst>
          </p:cNvPr>
          <p:cNvSpPr txBox="1"/>
          <p:nvPr/>
        </p:nvSpPr>
        <p:spPr>
          <a:xfrm>
            <a:off x="591435" y="5236838"/>
            <a:ext cx="2330319" cy="1477328"/>
          </a:xfrm>
          <a:prstGeom prst="rect">
            <a:avLst/>
          </a:prstGeom>
          <a:noFill/>
        </p:spPr>
        <p:txBody>
          <a:bodyPr wrap="square" rtlCol="0">
            <a:spAutoFit/>
          </a:bodyPr>
          <a:lstStyle/>
          <a:p>
            <a:pPr rtl="0">
              <a:spcBef>
                <a:spcPts val="0"/>
              </a:spcBef>
              <a:spcAft>
                <a:spcPts val="0"/>
              </a:spcAft>
            </a:pPr>
            <a:r>
              <a:rPr lang="en-US" sz="1800" b="1" i="0" u="none" strike="noStrike" dirty="0">
                <a:solidFill>
                  <a:srgbClr val="000000"/>
                </a:solidFill>
                <a:effectLst/>
                <a:latin typeface="Times New Roman" panose="02020603050405020304" pitchFamily="18" charset="0"/>
              </a:rPr>
              <a:t>SUBMITTED TO</a:t>
            </a:r>
            <a:endParaRPr lang="en-US" b="0" dirty="0">
              <a:effectLst/>
            </a:endParaRPr>
          </a:p>
          <a:p>
            <a:pPr rtl="0">
              <a:spcBef>
                <a:spcPts val="0"/>
              </a:spcBef>
              <a:spcAft>
                <a:spcPts val="0"/>
              </a:spcAft>
            </a:pPr>
            <a:r>
              <a:rPr lang="en-US" sz="1800" b="0" i="0" u="none" strike="noStrike" dirty="0">
                <a:solidFill>
                  <a:srgbClr val="000000"/>
                </a:solidFill>
                <a:effectLst/>
                <a:latin typeface="Times New Roman" panose="02020603050405020304" pitchFamily="18" charset="0"/>
              </a:rPr>
              <a:t>Dr. Dipti Saxena</a:t>
            </a:r>
          </a:p>
          <a:p>
            <a:pPr rtl="0">
              <a:spcBef>
                <a:spcPts val="0"/>
              </a:spcBef>
              <a:spcAft>
                <a:spcPts val="0"/>
              </a:spcAft>
            </a:pPr>
            <a:r>
              <a:rPr lang="en-US" dirty="0">
                <a:solidFill>
                  <a:srgbClr val="000000"/>
                </a:solidFill>
                <a:latin typeface="Times New Roman" panose="02020603050405020304" pitchFamily="18" charset="0"/>
              </a:rPr>
              <a:t>(Associate Professor)</a:t>
            </a:r>
            <a:endParaRPr lang="en-US" b="0" dirty="0">
              <a:effectLst/>
            </a:endParaRPr>
          </a:p>
          <a:p>
            <a:br>
              <a:rPr lang="en-US" dirty="0"/>
            </a:br>
            <a:endParaRPr lang="en-IN" dirty="0"/>
          </a:p>
        </p:txBody>
      </p:sp>
      <p:sp>
        <p:nvSpPr>
          <p:cNvPr id="10" name="TextBox 9">
            <a:extLst>
              <a:ext uri="{FF2B5EF4-FFF2-40B4-BE49-F238E27FC236}">
                <a16:creationId xmlns:a16="http://schemas.microsoft.com/office/drawing/2014/main" id="{A4F0E8B3-6053-1563-65DF-8C05AFEE1975}"/>
              </a:ext>
            </a:extLst>
          </p:cNvPr>
          <p:cNvSpPr txBox="1"/>
          <p:nvPr/>
        </p:nvSpPr>
        <p:spPr>
          <a:xfrm>
            <a:off x="9378457" y="5236838"/>
            <a:ext cx="2222090" cy="1477328"/>
          </a:xfrm>
          <a:prstGeom prst="rect">
            <a:avLst/>
          </a:prstGeom>
          <a:noFill/>
        </p:spPr>
        <p:txBody>
          <a:bodyPr wrap="square" rtlCol="0">
            <a:spAutoFit/>
          </a:bodyPr>
          <a:lstStyle/>
          <a:p>
            <a:pPr rtl="0">
              <a:spcBef>
                <a:spcPts val="0"/>
              </a:spcBef>
              <a:spcAft>
                <a:spcPts val="0"/>
              </a:spcAft>
            </a:pPr>
            <a:r>
              <a:rPr lang="en-IN" sz="1800" b="1" i="0" u="none" strike="noStrike" dirty="0">
                <a:solidFill>
                  <a:srgbClr val="000000"/>
                </a:solidFill>
                <a:effectLst/>
                <a:latin typeface="Times New Roman" panose="02020603050405020304" pitchFamily="18" charset="0"/>
              </a:rPr>
              <a:t>SUBMITTED BY</a:t>
            </a:r>
            <a:endParaRPr lang="en-IN" b="0" dirty="0">
              <a:effectLst/>
            </a:endParaRPr>
          </a:p>
          <a:p>
            <a:pPr rtl="0">
              <a:spcBef>
                <a:spcPts val="0"/>
              </a:spcBef>
              <a:spcAft>
                <a:spcPts val="0"/>
              </a:spcAft>
            </a:pPr>
            <a:r>
              <a:rPr lang="en-IN" dirty="0">
                <a:solidFill>
                  <a:srgbClr val="000000"/>
                </a:solidFill>
                <a:latin typeface="Times New Roman" panose="02020603050405020304" pitchFamily="18" charset="0"/>
              </a:rPr>
              <a:t>Aditya Kumar Jha</a:t>
            </a:r>
          </a:p>
          <a:p>
            <a:pPr rtl="0">
              <a:spcBef>
                <a:spcPts val="0"/>
              </a:spcBef>
              <a:spcAft>
                <a:spcPts val="0"/>
              </a:spcAft>
            </a:pPr>
            <a:r>
              <a:rPr lang="en-IN" dirty="0">
                <a:solidFill>
                  <a:srgbClr val="000000"/>
                </a:solidFill>
                <a:latin typeface="Times New Roman" panose="02020603050405020304" pitchFamily="18" charset="0"/>
              </a:rPr>
              <a:t>(2022UEE1038)</a:t>
            </a:r>
            <a:endParaRPr lang="en-IN" b="0" dirty="0">
              <a:effectLst/>
            </a:endParaRPr>
          </a:p>
          <a:p>
            <a:br>
              <a:rPr lang="en-IN" dirty="0"/>
            </a:br>
            <a:endParaRPr lang="en-IN" dirty="0"/>
          </a:p>
        </p:txBody>
      </p:sp>
      <p:sp>
        <p:nvSpPr>
          <p:cNvPr id="11" name="Rectangle: Rounded Corners 10">
            <a:extLst>
              <a:ext uri="{FF2B5EF4-FFF2-40B4-BE49-F238E27FC236}">
                <a16:creationId xmlns:a16="http://schemas.microsoft.com/office/drawing/2014/main" id="{1F37C036-C861-CD2A-EEC1-3ADC4548F0C0}"/>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7C3AB91A-E842-927F-89DF-7C1DD823D0A0}"/>
              </a:ext>
            </a:extLst>
          </p:cNvPr>
          <p:cNvSpPr/>
          <p:nvPr/>
        </p:nvSpPr>
        <p:spPr>
          <a:xfrm>
            <a:off x="-103249" y="6614274"/>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Slide Number Placeholder 12">
            <a:extLst>
              <a:ext uri="{FF2B5EF4-FFF2-40B4-BE49-F238E27FC236}">
                <a16:creationId xmlns:a16="http://schemas.microsoft.com/office/drawing/2014/main" id="{7F9BE154-9C87-D56C-F5ED-46C039EA7093}"/>
              </a:ext>
            </a:extLst>
          </p:cNvPr>
          <p:cNvSpPr>
            <a:spLocks noGrp="1"/>
          </p:cNvSpPr>
          <p:nvPr>
            <p:ph type="sldNum" sz="quarter" idx="12"/>
          </p:nvPr>
        </p:nvSpPr>
        <p:spPr/>
        <p:txBody>
          <a:bodyPr/>
          <a:lstStyle/>
          <a:p>
            <a:fld id="{D35EF2C4-5B37-4EC4-92A6-F918E903B68D}" type="slidenum">
              <a:rPr lang="en-IN" smtClean="0"/>
              <a:t>1</a:t>
            </a:fld>
            <a:endParaRPr lang="en-IN" dirty="0"/>
          </a:p>
        </p:txBody>
      </p:sp>
      <p:pic>
        <p:nvPicPr>
          <p:cNvPr id="5122" name="Picture 2" descr="Texas Instruments India | Bangalore">
            <a:extLst>
              <a:ext uri="{FF2B5EF4-FFF2-40B4-BE49-F238E27FC236}">
                <a16:creationId xmlns:a16="http://schemas.microsoft.com/office/drawing/2014/main" id="{8F14C3A9-89A6-97D3-908D-7CA421396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1596" y="4776864"/>
            <a:ext cx="1388816" cy="1388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1281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D8B7-B668-D6B5-4C30-98C1E2E2AB7A}"/>
              </a:ext>
            </a:extLst>
          </p:cNvPr>
          <p:cNvSpPr>
            <a:spLocks noGrp="1"/>
          </p:cNvSpPr>
          <p:nvPr>
            <p:ph type="title"/>
          </p:nvPr>
        </p:nvSpPr>
        <p:spPr>
          <a:xfrm>
            <a:off x="852947" y="18255"/>
            <a:ext cx="10515600" cy="1325563"/>
          </a:xfrm>
        </p:spPr>
        <p:txBody>
          <a:bodyPr/>
          <a:lstStyle/>
          <a:p>
            <a:pPr algn="ctr"/>
            <a:r>
              <a:rPr lang="en-IN" dirty="0">
                <a:latin typeface="Times New Roman" panose="02020603050405020304" pitchFamily="18" charset="0"/>
                <a:cs typeface="Times New Roman" panose="02020603050405020304" pitchFamily="18" charset="0"/>
              </a:rPr>
              <a:t>List of Contents</a:t>
            </a:r>
          </a:p>
        </p:txBody>
      </p:sp>
      <p:graphicFrame>
        <p:nvGraphicFramePr>
          <p:cNvPr id="4" name="Content Placeholder 3">
            <a:extLst>
              <a:ext uri="{FF2B5EF4-FFF2-40B4-BE49-F238E27FC236}">
                <a16:creationId xmlns:a16="http://schemas.microsoft.com/office/drawing/2014/main" id="{45BAFFF9-BCE5-7004-BE7A-1F75EA8CDAFE}"/>
              </a:ext>
            </a:extLst>
          </p:cNvPr>
          <p:cNvGraphicFramePr>
            <a:graphicFrameLocks noGrp="1"/>
          </p:cNvGraphicFramePr>
          <p:nvPr>
            <p:ph idx="1"/>
            <p:extLst>
              <p:ext uri="{D42A27DB-BD31-4B8C-83A1-F6EECF244321}">
                <p14:modId xmlns:p14="http://schemas.microsoft.com/office/powerpoint/2010/main" val="1690880428"/>
              </p:ext>
            </p:extLst>
          </p:nvPr>
        </p:nvGraphicFramePr>
        <p:xfrm>
          <a:off x="559353" y="1332172"/>
          <a:ext cx="11102788" cy="4745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Rounded Corners 4">
            <a:extLst>
              <a:ext uri="{FF2B5EF4-FFF2-40B4-BE49-F238E27FC236}">
                <a16:creationId xmlns:a16="http://schemas.microsoft.com/office/drawing/2014/main" id="{FCCF524E-E48D-FF6F-5977-25A9A3942CD6}"/>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AE7644A-840C-0DB9-9316-FC636A1C646A}"/>
              </a:ext>
            </a:extLst>
          </p:cNvPr>
          <p:cNvSpPr/>
          <p:nvPr/>
        </p:nvSpPr>
        <p:spPr>
          <a:xfrm>
            <a:off x="-88492" y="6595217"/>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Slide Number Placeholder 6">
            <a:extLst>
              <a:ext uri="{FF2B5EF4-FFF2-40B4-BE49-F238E27FC236}">
                <a16:creationId xmlns:a16="http://schemas.microsoft.com/office/drawing/2014/main" id="{6428D9A3-6324-9E59-C030-FEDE83A0801C}"/>
              </a:ext>
            </a:extLst>
          </p:cNvPr>
          <p:cNvSpPr>
            <a:spLocks noGrp="1"/>
          </p:cNvSpPr>
          <p:nvPr>
            <p:ph type="sldNum" sz="quarter" idx="12"/>
          </p:nvPr>
        </p:nvSpPr>
        <p:spPr/>
        <p:txBody>
          <a:bodyPr/>
          <a:lstStyle/>
          <a:p>
            <a:fld id="{D35EF2C4-5B37-4EC4-92A6-F918E903B68D}" type="slidenum">
              <a:rPr lang="en-IN" smtClean="0"/>
              <a:t>2</a:t>
            </a:fld>
            <a:endParaRPr lang="en-IN"/>
          </a:p>
        </p:txBody>
      </p:sp>
    </p:spTree>
    <p:extLst>
      <p:ext uri="{BB962C8B-B14F-4D97-AF65-F5344CB8AC3E}">
        <p14:creationId xmlns:p14="http://schemas.microsoft.com/office/powerpoint/2010/main" val="4276544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4E896-5D4C-DA1A-880B-9CC2C410254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82FC115-5EAB-3785-27F5-44988EAEECEC}"/>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4D39E936-29A9-9CD7-8042-DA118E6BAEF9}"/>
              </a:ext>
            </a:extLst>
          </p:cNvPr>
          <p:cNvSpPr/>
          <p:nvPr/>
        </p:nvSpPr>
        <p:spPr>
          <a:xfrm>
            <a:off x="-103239" y="6646455"/>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Slide Number Placeholder 13">
            <a:extLst>
              <a:ext uri="{FF2B5EF4-FFF2-40B4-BE49-F238E27FC236}">
                <a16:creationId xmlns:a16="http://schemas.microsoft.com/office/drawing/2014/main" id="{E1FC34CF-488E-1829-4DC0-05B61EFD2D1D}"/>
              </a:ext>
            </a:extLst>
          </p:cNvPr>
          <p:cNvSpPr>
            <a:spLocks noGrp="1"/>
          </p:cNvSpPr>
          <p:nvPr>
            <p:ph type="sldNum" sz="quarter" idx="12"/>
          </p:nvPr>
        </p:nvSpPr>
        <p:spPr/>
        <p:txBody>
          <a:bodyPr/>
          <a:lstStyle/>
          <a:p>
            <a:fld id="{D35EF2C4-5B37-4EC4-92A6-F918E903B68D}" type="slidenum">
              <a:rPr lang="en-IN" smtClean="0"/>
              <a:t>3</a:t>
            </a:fld>
            <a:endParaRPr lang="en-IN"/>
          </a:p>
        </p:txBody>
      </p:sp>
      <p:sp>
        <p:nvSpPr>
          <p:cNvPr id="17" name="Title 1">
            <a:extLst>
              <a:ext uri="{FF2B5EF4-FFF2-40B4-BE49-F238E27FC236}">
                <a16:creationId xmlns:a16="http://schemas.microsoft.com/office/drawing/2014/main" id="{C83B9FD5-BDD1-FA31-60B2-FE06C51AF3FC}"/>
              </a:ext>
            </a:extLst>
          </p:cNvPr>
          <p:cNvSpPr>
            <a:spLocks noGrp="1"/>
          </p:cNvSpPr>
          <p:nvPr>
            <p:ph type="title"/>
          </p:nvPr>
        </p:nvSpPr>
        <p:spPr>
          <a:xfrm>
            <a:off x="1111388" y="136525"/>
            <a:ext cx="9969222" cy="662320"/>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Validation and Testing of ICs</a:t>
            </a:r>
          </a:p>
        </p:txBody>
      </p:sp>
      <p:pic>
        <p:nvPicPr>
          <p:cNvPr id="7170" name="Picture 2" descr="Galin Trifonov - Engineer | LinkedIn">
            <a:extLst>
              <a:ext uri="{FF2B5EF4-FFF2-40B4-BE49-F238E27FC236}">
                <a16:creationId xmlns:a16="http://schemas.microsoft.com/office/drawing/2014/main" id="{6A40A725-314C-97A4-90D5-A494422DBD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600" y="699290"/>
            <a:ext cx="2939636" cy="24164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8D23671-17DB-163D-9F45-67B8EFB0B2E1}"/>
              </a:ext>
            </a:extLst>
          </p:cNvPr>
          <p:cNvSpPr txBox="1"/>
          <p:nvPr/>
        </p:nvSpPr>
        <p:spPr>
          <a:xfrm>
            <a:off x="119153" y="1228397"/>
            <a:ext cx="7737913" cy="4401205"/>
          </a:xfrm>
          <a:prstGeom prst="rect">
            <a:avLst/>
          </a:prstGeom>
          <a:noFill/>
        </p:spPr>
        <p:txBody>
          <a:bodyPr wrap="square">
            <a:spAutoFit/>
          </a:bodyPr>
          <a:lstStyle/>
          <a:p>
            <a:pPr algn="just">
              <a:buNone/>
            </a:pPr>
            <a:r>
              <a:rPr lang="en-US" sz="2000" b="1" dirty="0">
                <a:latin typeface="Times New Roman" panose="02020603050405020304" pitchFamily="18" charset="0"/>
                <a:cs typeface="Times New Roman" panose="02020603050405020304" pitchFamily="18" charset="0"/>
              </a:rPr>
              <a:t>Validation of ICs</a:t>
            </a: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Process of measuring and characterizing IC performance in the lab against design specifications.</a:t>
            </a: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Involves detailed analysis of parameters (gain, noise, offset, PSRR, speed, etc.) across corners.</a:t>
            </a:r>
          </a:p>
          <a:p>
            <a:pPr lvl="1"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Importance:</a:t>
            </a:r>
            <a:r>
              <a:rPr lang="en-US" sz="2000" dirty="0">
                <a:latin typeface="Times New Roman" panose="02020603050405020304" pitchFamily="18" charset="0"/>
                <a:cs typeface="Times New Roman" panose="02020603050405020304" pitchFamily="18" charset="0"/>
              </a:rPr>
              <a:t> Ensures the IC meets functional and performance goals before mass production.</a:t>
            </a:r>
          </a:p>
          <a:p>
            <a:pPr algn="just">
              <a:buNone/>
            </a:pPr>
            <a:r>
              <a:rPr lang="en-US" sz="2000" b="1" dirty="0">
                <a:latin typeface="Times New Roman" panose="02020603050405020304" pitchFamily="18" charset="0"/>
                <a:cs typeface="Times New Roman" panose="02020603050405020304" pitchFamily="18" charset="0"/>
              </a:rPr>
              <a:t>Testing of ICs</a:t>
            </a: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Process of screening ICs at wafer and package level using ATE for pass/fail criteria.</a:t>
            </a:r>
          </a:p>
          <a:p>
            <a:pPr lvl="1"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Focuses on functional checks, DC/AC parameters, and defect detection at scale.</a:t>
            </a:r>
          </a:p>
          <a:p>
            <a:pPr lvl="1"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Importance:</a:t>
            </a:r>
            <a:r>
              <a:rPr lang="en-US" sz="2000" dirty="0">
                <a:latin typeface="Times New Roman" panose="02020603050405020304" pitchFamily="18" charset="0"/>
                <a:cs typeface="Times New Roman" panose="02020603050405020304" pitchFamily="18" charset="0"/>
              </a:rPr>
              <a:t> Guarantees quality, yield, and reliability in high-volume manufacturing.</a:t>
            </a:r>
          </a:p>
        </p:txBody>
      </p:sp>
      <p:pic>
        <p:nvPicPr>
          <p:cNvPr id="7172" name="Picture 4" descr="Europe's Largest Semiconductor Testing Facility Receives ISO 9001:2015  Certification">
            <a:extLst>
              <a:ext uri="{FF2B5EF4-FFF2-40B4-BE49-F238E27FC236}">
                <a16:creationId xmlns:a16="http://schemas.microsoft.com/office/drawing/2014/main" id="{CCAF54D6-C272-D576-2B77-A7E9294CCD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5403"/>
          <a:stretch>
            <a:fillRect/>
          </a:stretch>
        </p:blipFill>
        <p:spPr bwMode="auto">
          <a:xfrm>
            <a:off x="7990101" y="3299245"/>
            <a:ext cx="3984197" cy="2948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274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DE6F-DA17-2892-3082-A8AFF6DB4363}"/>
              </a:ext>
            </a:extLst>
          </p:cNvPr>
          <p:cNvSpPr>
            <a:spLocks noGrp="1"/>
          </p:cNvSpPr>
          <p:nvPr>
            <p:ph type="title"/>
          </p:nvPr>
        </p:nvSpPr>
        <p:spPr>
          <a:xfrm>
            <a:off x="838200" y="0"/>
            <a:ext cx="10515600" cy="1325563"/>
          </a:xfrm>
        </p:spPr>
        <p:txBody>
          <a:bodyPr/>
          <a:lstStyle/>
          <a:p>
            <a:pPr algn="ctr"/>
            <a:r>
              <a:rPr lang="en-IN" dirty="0">
                <a:latin typeface="Times New Roman" panose="02020603050405020304" pitchFamily="18" charset="0"/>
                <a:cs typeface="Times New Roman" panose="02020603050405020304" pitchFamily="18" charset="0"/>
              </a:rPr>
              <a:t>Introduction to EMC testing of ICs </a:t>
            </a:r>
          </a:p>
        </p:txBody>
      </p:sp>
      <p:sp>
        <p:nvSpPr>
          <p:cNvPr id="3" name="Content Placeholder 2">
            <a:extLst>
              <a:ext uri="{FF2B5EF4-FFF2-40B4-BE49-F238E27FC236}">
                <a16:creationId xmlns:a16="http://schemas.microsoft.com/office/drawing/2014/main" id="{333EA9E4-8112-1C12-91A4-C553515BB6FA}"/>
              </a:ext>
            </a:extLst>
          </p:cNvPr>
          <p:cNvSpPr>
            <a:spLocks noGrp="1"/>
          </p:cNvSpPr>
          <p:nvPr>
            <p:ph idx="1"/>
          </p:nvPr>
        </p:nvSpPr>
        <p:spPr>
          <a:xfrm>
            <a:off x="254171" y="1193913"/>
            <a:ext cx="6359013" cy="4649080"/>
          </a:xfrm>
        </p:spPr>
        <p:txBody>
          <a:bodyPr>
            <a:normAutofit/>
          </a:bodyPr>
          <a:lstStyle/>
          <a:p>
            <a:r>
              <a:rPr lang="en-US" sz="2000" dirty="0">
                <a:latin typeface="Times New Roman" panose="02020603050405020304" pitchFamily="18" charset="0"/>
                <a:cs typeface="Times New Roman" panose="02020603050405020304" pitchFamily="18" charset="0"/>
              </a:rPr>
              <a:t>Electromagnetic Compatibility (EMC) testing is the process of evaluating an electronic device to ensure it does not emit an excessive amount of electromagnetic interference (EMI), and that it can operate correctly in the presence of EMI in its environment. These emissions—both radiated and conducted—must fall within defined regulatory limits to avoid interference with other equipment.</a:t>
            </a:r>
          </a:p>
          <a:p>
            <a:r>
              <a:rPr lang="en-US" sz="2000" dirty="0">
                <a:latin typeface="Times New Roman" panose="02020603050405020304" pitchFamily="18" charset="0"/>
                <a:cs typeface="Times New Roman" panose="02020603050405020304" pitchFamily="18" charset="0"/>
              </a:rPr>
              <a:t>EMC testing includes two core objectives:</a:t>
            </a:r>
          </a:p>
          <a:p>
            <a:pPr lvl="1"/>
            <a:r>
              <a:rPr lang="en-US" sz="2000" b="1" dirty="0">
                <a:latin typeface="Times New Roman" panose="02020603050405020304" pitchFamily="18" charset="0"/>
                <a:cs typeface="Times New Roman" panose="02020603050405020304" pitchFamily="18" charset="0"/>
              </a:rPr>
              <a:t>Emissions Testing</a:t>
            </a:r>
            <a:r>
              <a:rPr lang="en-US" sz="2000" dirty="0">
                <a:latin typeface="Times New Roman" panose="02020603050405020304" pitchFamily="18" charset="0"/>
                <a:cs typeface="Times New Roman" panose="02020603050405020304" pitchFamily="18" charset="0"/>
              </a:rPr>
              <a:t> – Ensuring your device does not generate unwanted interference.</a:t>
            </a:r>
          </a:p>
          <a:p>
            <a:pPr lvl="1"/>
            <a:r>
              <a:rPr lang="en-US" sz="2000" b="1" dirty="0">
                <a:latin typeface="Times New Roman" panose="02020603050405020304" pitchFamily="18" charset="0"/>
                <a:cs typeface="Times New Roman" panose="02020603050405020304" pitchFamily="18" charset="0"/>
              </a:rPr>
              <a:t>Immunity Testing</a:t>
            </a:r>
            <a:r>
              <a:rPr lang="en-US" sz="2000" dirty="0">
                <a:latin typeface="Times New Roman" panose="02020603050405020304" pitchFamily="18" charset="0"/>
                <a:cs typeface="Times New Roman" panose="02020603050405020304" pitchFamily="18" charset="0"/>
              </a:rPr>
              <a:t> – Confirming your device continues functioning as intended when exposed to external electromagnetic disturbances.</a:t>
            </a:r>
          </a:p>
        </p:txBody>
      </p:sp>
      <p:sp>
        <p:nvSpPr>
          <p:cNvPr id="9" name="Rectangle: Rounded Corners 8">
            <a:extLst>
              <a:ext uri="{FF2B5EF4-FFF2-40B4-BE49-F238E27FC236}">
                <a16:creationId xmlns:a16="http://schemas.microsoft.com/office/drawing/2014/main" id="{0FD42030-F4E8-579F-25A7-20AEBB225ACF}"/>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886AF673-1D91-8C6E-2159-8EDFC5DEF4D3}"/>
              </a:ext>
            </a:extLst>
          </p:cNvPr>
          <p:cNvSpPr/>
          <p:nvPr/>
        </p:nvSpPr>
        <p:spPr>
          <a:xfrm>
            <a:off x="-88491" y="6567948"/>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Slide Number Placeholder 10">
            <a:extLst>
              <a:ext uri="{FF2B5EF4-FFF2-40B4-BE49-F238E27FC236}">
                <a16:creationId xmlns:a16="http://schemas.microsoft.com/office/drawing/2014/main" id="{7E0BFF25-4295-3E2D-C51B-B4831973912B}"/>
              </a:ext>
            </a:extLst>
          </p:cNvPr>
          <p:cNvSpPr>
            <a:spLocks noGrp="1"/>
          </p:cNvSpPr>
          <p:nvPr>
            <p:ph type="sldNum" sz="quarter" idx="12"/>
          </p:nvPr>
        </p:nvSpPr>
        <p:spPr/>
        <p:txBody>
          <a:bodyPr/>
          <a:lstStyle/>
          <a:p>
            <a:fld id="{D35EF2C4-5B37-4EC4-92A6-F918E903B68D}" type="slidenum">
              <a:rPr lang="en-IN" smtClean="0"/>
              <a:t>4</a:t>
            </a:fld>
            <a:endParaRPr lang="en-IN"/>
          </a:p>
        </p:txBody>
      </p:sp>
      <p:pic>
        <p:nvPicPr>
          <p:cNvPr id="3074" name="Picture 2" descr="Designing Electronics to Pass the EMC Test Part 5 - Technical Articles">
            <a:extLst>
              <a:ext uri="{FF2B5EF4-FFF2-40B4-BE49-F238E27FC236}">
                <a16:creationId xmlns:a16="http://schemas.microsoft.com/office/drawing/2014/main" id="{4BF48C35-399D-38B0-4E44-56720C3A0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7422" y="1606741"/>
            <a:ext cx="5240407" cy="353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410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57954-2A7E-039B-B7A7-57B88A06AD56}"/>
              </a:ext>
            </a:extLst>
          </p:cNvPr>
          <p:cNvSpPr>
            <a:spLocks noGrp="1"/>
          </p:cNvSpPr>
          <p:nvPr>
            <p:ph type="title"/>
          </p:nvPr>
        </p:nvSpPr>
        <p:spPr>
          <a:xfrm>
            <a:off x="560438" y="28332"/>
            <a:ext cx="10515600" cy="1325563"/>
          </a:xfrm>
        </p:spPr>
        <p:txBody>
          <a:bodyPr/>
          <a:lstStyle/>
          <a:p>
            <a:pPr lvl="0" algn="ctr"/>
            <a:r>
              <a:rPr lang="en-IN" dirty="0">
                <a:latin typeface="Times New Roman" panose="02020603050405020304" pitchFamily="18" charset="0"/>
                <a:cs typeface="Times New Roman" panose="02020603050405020304" pitchFamily="18" charset="0"/>
              </a:rPr>
              <a:t>Digital Isolators </a:t>
            </a:r>
          </a:p>
        </p:txBody>
      </p:sp>
      <p:sp>
        <p:nvSpPr>
          <p:cNvPr id="3" name="Content Placeholder 2">
            <a:extLst>
              <a:ext uri="{FF2B5EF4-FFF2-40B4-BE49-F238E27FC236}">
                <a16:creationId xmlns:a16="http://schemas.microsoft.com/office/drawing/2014/main" id="{3A56BCB0-A743-63D7-E73E-6D4ECECCADB0}"/>
              </a:ext>
            </a:extLst>
          </p:cNvPr>
          <p:cNvSpPr>
            <a:spLocks noGrp="1"/>
          </p:cNvSpPr>
          <p:nvPr>
            <p:ph idx="1"/>
          </p:nvPr>
        </p:nvSpPr>
        <p:spPr>
          <a:xfrm>
            <a:off x="389965" y="1725220"/>
            <a:ext cx="7700487" cy="4060722"/>
          </a:xfrm>
        </p:spPr>
        <p:txBody>
          <a:bodyPr anchor="t">
            <a:noAutofit/>
          </a:bodyPr>
          <a:lstStyle/>
          <a:p>
            <a:pPr marL="0" indent="0" algn="just">
              <a:buNone/>
            </a:pPr>
            <a:r>
              <a:rPr lang="en-US" sz="2000" dirty="0"/>
              <a:t>Digital isolators are devices used to </a:t>
            </a:r>
            <a:r>
              <a:rPr lang="en-US" sz="2000" b="1" dirty="0"/>
              <a:t>transfer digital signals across two electrically isolated domains</a:t>
            </a:r>
            <a:r>
              <a:rPr lang="en-US" sz="2000" dirty="0"/>
              <a:t> while preventing direct conduction of current. They’re widely used in systems where safety, noise immunity, and protection from high voltages are critical.</a:t>
            </a:r>
          </a:p>
          <a:p>
            <a:pPr marL="0" indent="0">
              <a:buNone/>
            </a:pPr>
            <a:r>
              <a:rPr lang="en-US" sz="2000" dirty="0"/>
              <a:t>Digital isolators use </a:t>
            </a:r>
            <a:r>
              <a:rPr lang="en-US" sz="2000" b="1" dirty="0"/>
              <a:t>non-conductive coupling methods</a:t>
            </a:r>
            <a:r>
              <a:rPr lang="en-US" sz="2000" dirty="0"/>
              <a:t> instead of wires:</a:t>
            </a:r>
          </a:p>
          <a:p>
            <a:r>
              <a:rPr lang="en-US" sz="2000" b="1" dirty="0"/>
              <a:t>Capacitive Coupling:</a:t>
            </a:r>
            <a:r>
              <a:rPr lang="en-US" sz="2000" dirty="0"/>
              <a:t> Uses tiny on-chip capacitors to transmit digital transitions via electric fields.</a:t>
            </a:r>
          </a:p>
          <a:p>
            <a:r>
              <a:rPr lang="en-US" sz="2000" b="1" dirty="0"/>
              <a:t>Magnetic Coupling:</a:t>
            </a:r>
            <a:r>
              <a:rPr lang="en-US" sz="2000" dirty="0"/>
              <a:t> Uses micro-scale transformers or inductive coils to send signals via magnetic fields.</a:t>
            </a:r>
          </a:p>
          <a:p>
            <a:r>
              <a:rPr lang="en-US" sz="2000" b="1" dirty="0"/>
              <a:t>Optical Coupling (Optocouplers):</a:t>
            </a:r>
            <a:r>
              <a:rPr lang="en-US" sz="2000" dirty="0"/>
              <a:t> Uses LEDs and photodiodes for light-based signal transfer (older but still common).</a:t>
            </a:r>
          </a:p>
          <a:p>
            <a:pPr marL="0" indent="0">
              <a:buNone/>
            </a:pPr>
            <a:r>
              <a:rPr lang="en-US" sz="2000" dirty="0"/>
              <a:t> Digital isolation is needed for following reason: Safety of devices and Noise Immunity</a:t>
            </a:r>
          </a:p>
          <a:p>
            <a:pPr marL="0" indent="0">
              <a:buNone/>
            </a:pPr>
            <a:r>
              <a:rPr lang="en-US" sz="2000" dirty="0"/>
              <a:t>						</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9707953B-8D4C-199A-D045-BAF530FEA8CA}"/>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4A9D05C0-1FB1-3FCA-E77A-285E8E753019}"/>
              </a:ext>
            </a:extLst>
          </p:cNvPr>
          <p:cNvSpPr/>
          <p:nvPr/>
        </p:nvSpPr>
        <p:spPr>
          <a:xfrm>
            <a:off x="-103239" y="6619653"/>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Slide Number Placeholder 6">
            <a:extLst>
              <a:ext uri="{FF2B5EF4-FFF2-40B4-BE49-F238E27FC236}">
                <a16:creationId xmlns:a16="http://schemas.microsoft.com/office/drawing/2014/main" id="{30CCB5F6-560F-7445-729B-E884FF47CB95}"/>
              </a:ext>
            </a:extLst>
          </p:cNvPr>
          <p:cNvSpPr>
            <a:spLocks noGrp="1"/>
          </p:cNvSpPr>
          <p:nvPr>
            <p:ph type="sldNum" sz="quarter" idx="12"/>
          </p:nvPr>
        </p:nvSpPr>
        <p:spPr/>
        <p:txBody>
          <a:bodyPr/>
          <a:lstStyle/>
          <a:p>
            <a:fld id="{D35EF2C4-5B37-4EC4-92A6-F918E903B68D}" type="slidenum">
              <a:rPr lang="en-IN" smtClean="0"/>
              <a:t>5</a:t>
            </a:fld>
            <a:endParaRPr lang="en-IN"/>
          </a:p>
        </p:txBody>
      </p:sp>
      <p:pic>
        <p:nvPicPr>
          <p:cNvPr id="1026" name="Picture 2" descr="ISO7021 Ultra-Low Power Digital ...">
            <a:extLst>
              <a:ext uri="{FF2B5EF4-FFF2-40B4-BE49-F238E27FC236}">
                <a16:creationId xmlns:a16="http://schemas.microsoft.com/office/drawing/2014/main" id="{974ACA42-DF4E-C751-C1DE-D997AF0675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6161" y="136525"/>
            <a:ext cx="1872078" cy="135957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OK vs FSK vs ASK: Modulation Techniques Compared | RF Wireless World">
            <a:extLst>
              <a:ext uri="{FF2B5EF4-FFF2-40B4-BE49-F238E27FC236}">
                <a16:creationId xmlns:a16="http://schemas.microsoft.com/office/drawing/2014/main" id="{97818A8F-BBEB-2D80-5CA5-F6FF5EF06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7098" y="4125047"/>
            <a:ext cx="3568500" cy="1933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0885B99-C30E-F6A9-666D-267F208BD9BC}"/>
              </a:ext>
            </a:extLst>
          </p:cNvPr>
          <p:cNvPicPr>
            <a:picLocks noChangeAspect="1"/>
          </p:cNvPicPr>
          <p:nvPr/>
        </p:nvPicPr>
        <p:blipFill>
          <a:blip r:embed="rId4"/>
          <a:stretch>
            <a:fillRect/>
          </a:stretch>
        </p:blipFill>
        <p:spPr>
          <a:xfrm>
            <a:off x="8276723" y="1681058"/>
            <a:ext cx="3689250" cy="2015987"/>
          </a:xfrm>
          <a:prstGeom prst="rect">
            <a:avLst/>
          </a:prstGeom>
        </p:spPr>
      </p:pic>
    </p:spTree>
    <p:extLst>
      <p:ext uri="{BB962C8B-B14F-4D97-AF65-F5344CB8AC3E}">
        <p14:creationId xmlns:p14="http://schemas.microsoft.com/office/powerpoint/2010/main" val="210881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8C62C-F149-EE5E-31E5-B95296FF58E8}"/>
              </a:ext>
            </a:extLst>
          </p:cNvPr>
          <p:cNvSpPr>
            <a:spLocks noGrp="1"/>
          </p:cNvSpPr>
          <p:nvPr>
            <p:ph type="title"/>
          </p:nvPr>
        </p:nvSpPr>
        <p:spPr>
          <a:xfrm>
            <a:off x="838200" y="0"/>
            <a:ext cx="10515600" cy="1325563"/>
          </a:xfrm>
        </p:spPr>
        <p:txBody>
          <a:bodyPr/>
          <a:lstStyle/>
          <a:p>
            <a:pPr lvl="0" algn="ctr"/>
            <a:r>
              <a:rPr lang="en-IN" dirty="0">
                <a:latin typeface="Times New Roman" panose="02020603050405020304" pitchFamily="18" charset="0"/>
                <a:cs typeface="Times New Roman" panose="02020603050405020304" pitchFamily="18" charset="0"/>
              </a:rPr>
              <a:t>IEC-61000-4(Standard for EMC testing)</a:t>
            </a:r>
          </a:p>
        </p:txBody>
      </p:sp>
      <p:sp>
        <p:nvSpPr>
          <p:cNvPr id="4" name="TextBox 3">
            <a:extLst>
              <a:ext uri="{FF2B5EF4-FFF2-40B4-BE49-F238E27FC236}">
                <a16:creationId xmlns:a16="http://schemas.microsoft.com/office/drawing/2014/main" id="{93F729CA-427D-43A8-F7F0-7BCEB039649D}"/>
              </a:ext>
            </a:extLst>
          </p:cNvPr>
          <p:cNvSpPr txBox="1"/>
          <p:nvPr/>
        </p:nvSpPr>
        <p:spPr>
          <a:xfrm>
            <a:off x="852947" y="1325563"/>
            <a:ext cx="10515600" cy="2031325"/>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IEC-61000-4</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specifies </a:t>
            </a:r>
            <a:r>
              <a:rPr lang="en-US" b="1" dirty="0">
                <a:latin typeface="Times New Roman" panose="02020603050405020304" pitchFamily="18" charset="0"/>
                <a:cs typeface="Times New Roman" panose="02020603050405020304" pitchFamily="18" charset="0"/>
              </a:rPr>
              <a:t>how EMC immunity tests must be conducted</a:t>
            </a:r>
            <a:r>
              <a:rPr lang="en-US" dirty="0">
                <a:latin typeface="Times New Roman" panose="02020603050405020304" pitchFamily="18" charset="0"/>
                <a:cs typeface="Times New Roman" panose="02020603050405020304" pitchFamily="18" charset="0"/>
              </a:rPr>
              <a:t> so that equipment can be evaluated under controlled, repeatable conditions.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IEC-61000-4-3</a:t>
            </a:r>
            <a:r>
              <a:rPr lang="en-IN" dirty="0">
                <a:latin typeface="Times New Roman" panose="02020603050405020304" pitchFamily="18" charset="0"/>
                <a:cs typeface="Times New Roman" panose="02020603050405020304" pitchFamily="18" charset="0"/>
              </a:rPr>
              <a:t> is specifically concerned with radiated immunity testing ICs. It </a:t>
            </a:r>
            <a:r>
              <a:rPr lang="en-US" dirty="0">
                <a:latin typeface="Times New Roman" panose="02020603050405020304" pitchFamily="18" charset="0"/>
                <a:cs typeface="Times New Roman" panose="02020603050405020304" pitchFamily="18" charset="0"/>
              </a:rPr>
              <a:t>ensures that equipment continues to operate </a:t>
            </a:r>
            <a:r>
              <a:rPr lang="en-US" b="1" dirty="0">
                <a:latin typeface="Times New Roman" panose="02020603050405020304" pitchFamily="18" charset="0"/>
                <a:cs typeface="Times New Roman" panose="02020603050405020304" pitchFamily="18" charset="0"/>
              </a:rPr>
              <a:t>correctly and safely</a:t>
            </a:r>
            <a:r>
              <a:rPr lang="en-US" dirty="0">
                <a:latin typeface="Times New Roman" panose="02020603050405020304" pitchFamily="18" charset="0"/>
                <a:cs typeface="Times New Roman" panose="02020603050405020304" pitchFamily="18" charset="0"/>
              </a:rPr>
              <a:t> when exposed to RF radiation (like from mobile phones, walkie-talkies, Wi-Fi, radar, broadcast transmitters, etc.).</a:t>
            </a:r>
          </a:p>
          <a:p>
            <a:pPr algn="just"/>
            <a:endParaRPr lang="en-US" dirty="0"/>
          </a:p>
        </p:txBody>
      </p:sp>
      <p:sp>
        <p:nvSpPr>
          <p:cNvPr id="7" name="Rectangle: Rounded Corners 6">
            <a:extLst>
              <a:ext uri="{FF2B5EF4-FFF2-40B4-BE49-F238E27FC236}">
                <a16:creationId xmlns:a16="http://schemas.microsoft.com/office/drawing/2014/main" id="{6ED4F532-1E7F-DB16-91B7-D1467FB8756D}"/>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CE3BEA1A-65ED-08A3-09BC-5BF09EFB875C}"/>
              </a:ext>
            </a:extLst>
          </p:cNvPr>
          <p:cNvSpPr/>
          <p:nvPr/>
        </p:nvSpPr>
        <p:spPr>
          <a:xfrm>
            <a:off x="-103239" y="6619653"/>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Slide Number Placeholder 8">
            <a:extLst>
              <a:ext uri="{FF2B5EF4-FFF2-40B4-BE49-F238E27FC236}">
                <a16:creationId xmlns:a16="http://schemas.microsoft.com/office/drawing/2014/main" id="{37667344-56AC-EA4A-0EA3-581197E58F41}"/>
              </a:ext>
            </a:extLst>
          </p:cNvPr>
          <p:cNvSpPr>
            <a:spLocks noGrp="1"/>
          </p:cNvSpPr>
          <p:nvPr>
            <p:ph type="sldNum" sz="quarter" idx="12"/>
          </p:nvPr>
        </p:nvSpPr>
        <p:spPr/>
        <p:txBody>
          <a:bodyPr/>
          <a:lstStyle/>
          <a:p>
            <a:fld id="{D35EF2C4-5B37-4EC4-92A6-F918E903B68D}" type="slidenum">
              <a:rPr lang="en-IN" smtClean="0"/>
              <a:t>6</a:t>
            </a:fld>
            <a:endParaRPr lang="en-IN"/>
          </a:p>
        </p:txBody>
      </p:sp>
      <p:graphicFrame>
        <p:nvGraphicFramePr>
          <p:cNvPr id="3" name="Table 2">
            <a:extLst>
              <a:ext uri="{FF2B5EF4-FFF2-40B4-BE49-F238E27FC236}">
                <a16:creationId xmlns:a16="http://schemas.microsoft.com/office/drawing/2014/main" id="{6DA0E36B-6332-36DA-0896-61BFB7F2E57D}"/>
              </a:ext>
            </a:extLst>
          </p:cNvPr>
          <p:cNvGraphicFramePr>
            <a:graphicFrameLocks noGrp="1"/>
          </p:cNvGraphicFramePr>
          <p:nvPr>
            <p:extLst>
              <p:ext uri="{D42A27DB-BD31-4B8C-83A1-F6EECF244321}">
                <p14:modId xmlns:p14="http://schemas.microsoft.com/office/powerpoint/2010/main" val="3327762866"/>
              </p:ext>
            </p:extLst>
          </p:nvPr>
        </p:nvGraphicFramePr>
        <p:xfrm>
          <a:off x="561008" y="3123763"/>
          <a:ext cx="5074480" cy="2739126"/>
        </p:xfrm>
        <a:graphic>
          <a:graphicData uri="http://schemas.openxmlformats.org/drawingml/2006/table">
            <a:tbl>
              <a:tblPr firstRow="1" bandRow="1">
                <a:tableStyleId>{00A15C55-8517-42AA-B614-E9B94910E393}</a:tableStyleId>
              </a:tblPr>
              <a:tblGrid>
                <a:gridCol w="2537240">
                  <a:extLst>
                    <a:ext uri="{9D8B030D-6E8A-4147-A177-3AD203B41FA5}">
                      <a16:colId xmlns:a16="http://schemas.microsoft.com/office/drawing/2014/main" val="2497800179"/>
                    </a:ext>
                  </a:extLst>
                </a:gridCol>
                <a:gridCol w="2537240">
                  <a:extLst>
                    <a:ext uri="{9D8B030D-6E8A-4147-A177-3AD203B41FA5}">
                      <a16:colId xmlns:a16="http://schemas.microsoft.com/office/drawing/2014/main" val="1493168612"/>
                    </a:ext>
                  </a:extLst>
                </a:gridCol>
              </a:tblGrid>
              <a:tr h="456521">
                <a:tc>
                  <a:txBody>
                    <a:bodyPr/>
                    <a:lstStyle/>
                    <a:p>
                      <a:pPr algn="ctr"/>
                      <a:r>
                        <a:rPr lang="en-IN" dirty="0"/>
                        <a:t>Test Case Parameter</a:t>
                      </a:r>
                    </a:p>
                  </a:txBody>
                  <a:tcPr/>
                </a:tc>
                <a:tc>
                  <a:txBody>
                    <a:bodyPr/>
                    <a:lstStyle/>
                    <a:p>
                      <a:pPr algn="ctr"/>
                      <a:r>
                        <a:rPr lang="en-IN" dirty="0"/>
                        <a:t>Values</a:t>
                      </a:r>
                    </a:p>
                  </a:txBody>
                  <a:tcPr/>
                </a:tc>
                <a:extLst>
                  <a:ext uri="{0D108BD9-81ED-4DB2-BD59-A6C34878D82A}">
                    <a16:rowId xmlns:a16="http://schemas.microsoft.com/office/drawing/2014/main" val="1843384502"/>
                  </a:ext>
                </a:extLst>
              </a:tr>
              <a:tr h="456521">
                <a:tc>
                  <a:txBody>
                    <a:bodyPr/>
                    <a:lstStyle/>
                    <a:p>
                      <a:pPr algn="ctr"/>
                      <a:r>
                        <a:rPr lang="en-IN" dirty="0"/>
                        <a:t>Frequency range of EMF</a:t>
                      </a:r>
                    </a:p>
                  </a:txBody>
                  <a:tcPr/>
                </a:tc>
                <a:tc>
                  <a:txBody>
                    <a:bodyPr/>
                    <a:lstStyle/>
                    <a:p>
                      <a:pPr algn="ctr"/>
                      <a:r>
                        <a:rPr lang="en-IN" dirty="0"/>
                        <a:t>1-6 GHz</a:t>
                      </a:r>
                    </a:p>
                  </a:txBody>
                  <a:tcPr/>
                </a:tc>
                <a:extLst>
                  <a:ext uri="{0D108BD9-81ED-4DB2-BD59-A6C34878D82A}">
                    <a16:rowId xmlns:a16="http://schemas.microsoft.com/office/drawing/2014/main" val="1199122035"/>
                  </a:ext>
                </a:extLst>
              </a:tr>
              <a:tr h="456521">
                <a:tc>
                  <a:txBody>
                    <a:bodyPr/>
                    <a:lstStyle/>
                    <a:p>
                      <a:pPr algn="ctr"/>
                      <a:r>
                        <a:rPr lang="en-IN" dirty="0"/>
                        <a:t>Field strength levels </a:t>
                      </a:r>
                    </a:p>
                  </a:txBody>
                  <a:tcPr/>
                </a:tc>
                <a:tc>
                  <a:txBody>
                    <a:bodyPr/>
                    <a:lstStyle/>
                    <a:p>
                      <a:pPr algn="ctr"/>
                      <a:r>
                        <a:rPr lang="en-IN" dirty="0"/>
                        <a:t> Greater than 100 V/m</a:t>
                      </a:r>
                    </a:p>
                  </a:txBody>
                  <a:tcPr/>
                </a:tc>
                <a:extLst>
                  <a:ext uri="{0D108BD9-81ED-4DB2-BD59-A6C34878D82A}">
                    <a16:rowId xmlns:a16="http://schemas.microsoft.com/office/drawing/2014/main" val="1015502015"/>
                  </a:ext>
                </a:extLst>
              </a:tr>
              <a:tr h="456521">
                <a:tc>
                  <a:txBody>
                    <a:bodyPr/>
                    <a:lstStyle/>
                    <a:p>
                      <a:pPr algn="ctr"/>
                      <a:r>
                        <a:rPr lang="en-IN" dirty="0"/>
                        <a:t>Data Rate </a:t>
                      </a:r>
                    </a:p>
                  </a:txBody>
                  <a:tcPr/>
                </a:tc>
                <a:tc>
                  <a:txBody>
                    <a:bodyPr/>
                    <a:lstStyle/>
                    <a:p>
                      <a:pPr algn="ctr"/>
                      <a:r>
                        <a:rPr lang="en-IN" dirty="0"/>
                        <a:t>100Mbps</a:t>
                      </a:r>
                    </a:p>
                  </a:txBody>
                  <a:tcPr/>
                </a:tc>
                <a:extLst>
                  <a:ext uri="{0D108BD9-81ED-4DB2-BD59-A6C34878D82A}">
                    <a16:rowId xmlns:a16="http://schemas.microsoft.com/office/drawing/2014/main" val="24849092"/>
                  </a:ext>
                </a:extLst>
              </a:tr>
              <a:tr h="456521">
                <a:tc>
                  <a:txBody>
                    <a:bodyPr/>
                    <a:lstStyle/>
                    <a:p>
                      <a:pPr algn="ctr"/>
                      <a:r>
                        <a:rPr lang="en-IN" dirty="0"/>
                        <a:t>Step size</a:t>
                      </a:r>
                    </a:p>
                  </a:txBody>
                  <a:tcPr/>
                </a:tc>
                <a:tc>
                  <a:txBody>
                    <a:bodyPr/>
                    <a:lstStyle/>
                    <a:p>
                      <a:pPr algn="ctr"/>
                      <a:r>
                        <a:rPr lang="en-IN" dirty="0"/>
                        <a:t>0.1GHz</a:t>
                      </a:r>
                    </a:p>
                  </a:txBody>
                  <a:tcPr/>
                </a:tc>
                <a:extLst>
                  <a:ext uri="{0D108BD9-81ED-4DB2-BD59-A6C34878D82A}">
                    <a16:rowId xmlns:a16="http://schemas.microsoft.com/office/drawing/2014/main" val="2571611008"/>
                  </a:ext>
                </a:extLst>
              </a:tr>
              <a:tr h="456521">
                <a:tc>
                  <a:txBody>
                    <a:bodyPr/>
                    <a:lstStyle/>
                    <a:p>
                      <a:pPr algn="ctr"/>
                      <a:r>
                        <a:rPr lang="en-IN" dirty="0"/>
                        <a:t>Time taken per step </a:t>
                      </a:r>
                    </a:p>
                  </a:txBody>
                  <a:tcPr/>
                </a:tc>
                <a:tc>
                  <a:txBody>
                    <a:bodyPr/>
                    <a:lstStyle/>
                    <a:p>
                      <a:pPr algn="ctr"/>
                      <a:r>
                        <a:rPr lang="en-IN" dirty="0"/>
                        <a:t>3 second </a:t>
                      </a:r>
                    </a:p>
                  </a:txBody>
                  <a:tcPr/>
                </a:tc>
                <a:extLst>
                  <a:ext uri="{0D108BD9-81ED-4DB2-BD59-A6C34878D82A}">
                    <a16:rowId xmlns:a16="http://schemas.microsoft.com/office/drawing/2014/main" val="1479840826"/>
                  </a:ext>
                </a:extLst>
              </a:tr>
            </a:tbl>
          </a:graphicData>
        </a:graphic>
      </p:graphicFrame>
      <p:graphicFrame>
        <p:nvGraphicFramePr>
          <p:cNvPr id="5" name="Table 4">
            <a:extLst>
              <a:ext uri="{FF2B5EF4-FFF2-40B4-BE49-F238E27FC236}">
                <a16:creationId xmlns:a16="http://schemas.microsoft.com/office/drawing/2014/main" id="{24C5B1B5-D1E5-450D-ECA4-36FE43D1B41A}"/>
              </a:ext>
            </a:extLst>
          </p:cNvPr>
          <p:cNvGraphicFramePr>
            <a:graphicFrameLocks noGrp="1"/>
          </p:cNvGraphicFramePr>
          <p:nvPr>
            <p:extLst>
              <p:ext uri="{D42A27DB-BD31-4B8C-83A1-F6EECF244321}">
                <p14:modId xmlns:p14="http://schemas.microsoft.com/office/powerpoint/2010/main" val="3303824354"/>
              </p:ext>
            </p:extLst>
          </p:nvPr>
        </p:nvGraphicFramePr>
        <p:xfrm>
          <a:off x="6110747" y="3168465"/>
          <a:ext cx="5074480" cy="2649723"/>
        </p:xfrm>
        <a:graphic>
          <a:graphicData uri="http://schemas.openxmlformats.org/drawingml/2006/table">
            <a:tbl>
              <a:tblPr firstRow="1" bandRow="1">
                <a:tableStyleId>{5C22544A-7EE6-4342-B048-85BDC9FD1C3A}</a:tableStyleId>
              </a:tblPr>
              <a:tblGrid>
                <a:gridCol w="2029793">
                  <a:extLst>
                    <a:ext uri="{9D8B030D-6E8A-4147-A177-3AD203B41FA5}">
                      <a16:colId xmlns:a16="http://schemas.microsoft.com/office/drawing/2014/main" val="3859437427"/>
                    </a:ext>
                  </a:extLst>
                </a:gridCol>
                <a:gridCol w="3044687">
                  <a:extLst>
                    <a:ext uri="{9D8B030D-6E8A-4147-A177-3AD203B41FA5}">
                      <a16:colId xmlns:a16="http://schemas.microsoft.com/office/drawing/2014/main" val="2948021878"/>
                    </a:ext>
                  </a:extLst>
                </a:gridCol>
              </a:tblGrid>
              <a:tr h="456521">
                <a:tc>
                  <a:txBody>
                    <a:bodyPr/>
                    <a:lstStyle/>
                    <a:p>
                      <a:r>
                        <a:rPr lang="en-IN" dirty="0"/>
                        <a:t>Performance level</a:t>
                      </a:r>
                    </a:p>
                  </a:txBody>
                  <a:tcPr/>
                </a:tc>
                <a:tc>
                  <a:txBody>
                    <a:bodyPr/>
                    <a:lstStyle/>
                    <a:p>
                      <a:pPr algn="ctr"/>
                      <a:r>
                        <a:rPr lang="en-IN" dirty="0"/>
                        <a:t>Description</a:t>
                      </a:r>
                    </a:p>
                  </a:txBody>
                  <a:tcPr/>
                </a:tc>
                <a:extLst>
                  <a:ext uri="{0D108BD9-81ED-4DB2-BD59-A6C34878D82A}">
                    <a16:rowId xmlns:a16="http://schemas.microsoft.com/office/drawing/2014/main" val="1709465811"/>
                  </a:ext>
                </a:extLst>
              </a:tr>
              <a:tr h="456521">
                <a:tc>
                  <a:txBody>
                    <a:bodyPr/>
                    <a:lstStyle/>
                    <a:p>
                      <a:pPr algn="ctr"/>
                      <a:r>
                        <a:rPr lang="en-IN" dirty="0"/>
                        <a:t>Criterion A</a:t>
                      </a:r>
                    </a:p>
                  </a:txBody>
                  <a:tcPr/>
                </a:tc>
                <a:tc>
                  <a:txBody>
                    <a:bodyPr/>
                    <a:lstStyle/>
                    <a:p>
                      <a:r>
                        <a:rPr lang="en-IN" dirty="0"/>
                        <a:t>Normal Performance </a:t>
                      </a:r>
                    </a:p>
                  </a:txBody>
                  <a:tcPr/>
                </a:tc>
                <a:extLst>
                  <a:ext uri="{0D108BD9-81ED-4DB2-BD59-A6C34878D82A}">
                    <a16:rowId xmlns:a16="http://schemas.microsoft.com/office/drawing/2014/main" val="97769357"/>
                  </a:ext>
                </a:extLst>
              </a:tr>
              <a:tr h="456521">
                <a:tc>
                  <a:txBody>
                    <a:bodyPr/>
                    <a:lstStyle/>
                    <a:p>
                      <a:pPr algn="ctr"/>
                      <a:r>
                        <a:rPr lang="en-IN" dirty="0"/>
                        <a:t>Criterion B</a:t>
                      </a:r>
                    </a:p>
                  </a:txBody>
                  <a:tcPr/>
                </a:tc>
                <a:tc>
                  <a:txBody>
                    <a:bodyPr/>
                    <a:lstStyle/>
                    <a:p>
                      <a:r>
                        <a:rPr lang="en-US" dirty="0"/>
                        <a:t>Temporary degradation, but self-recovering</a:t>
                      </a:r>
                      <a:endParaRPr lang="en-IN" dirty="0"/>
                    </a:p>
                  </a:txBody>
                  <a:tcPr/>
                </a:tc>
                <a:extLst>
                  <a:ext uri="{0D108BD9-81ED-4DB2-BD59-A6C34878D82A}">
                    <a16:rowId xmlns:a16="http://schemas.microsoft.com/office/drawing/2014/main" val="3092695940"/>
                  </a:ext>
                </a:extLst>
              </a:tr>
              <a:tr h="456521">
                <a:tc>
                  <a:txBody>
                    <a:bodyPr/>
                    <a:lstStyle/>
                    <a:p>
                      <a:pPr algn="ctr"/>
                      <a:r>
                        <a:rPr lang="en-IN" dirty="0"/>
                        <a:t>Criterion C</a:t>
                      </a:r>
                    </a:p>
                  </a:txBody>
                  <a:tcPr/>
                </a:tc>
                <a:tc>
                  <a:txBody>
                    <a:bodyPr/>
                    <a:lstStyle/>
                    <a:p>
                      <a:r>
                        <a:rPr lang="en-IN" dirty="0"/>
                        <a:t>Temporary degradation and require reset</a:t>
                      </a:r>
                    </a:p>
                  </a:txBody>
                  <a:tcPr/>
                </a:tc>
                <a:extLst>
                  <a:ext uri="{0D108BD9-81ED-4DB2-BD59-A6C34878D82A}">
                    <a16:rowId xmlns:a16="http://schemas.microsoft.com/office/drawing/2014/main" val="2566513023"/>
                  </a:ext>
                </a:extLst>
              </a:tr>
              <a:tr h="456521">
                <a:tc>
                  <a:txBody>
                    <a:bodyPr/>
                    <a:lstStyle/>
                    <a:p>
                      <a:pPr algn="ctr"/>
                      <a:r>
                        <a:rPr lang="en-IN" dirty="0"/>
                        <a:t>Criterion D</a:t>
                      </a:r>
                    </a:p>
                  </a:txBody>
                  <a:tcPr/>
                </a:tc>
                <a:tc>
                  <a:txBody>
                    <a:bodyPr/>
                    <a:lstStyle/>
                    <a:p>
                      <a:r>
                        <a:rPr lang="en-IN" dirty="0"/>
                        <a:t>Complete failure </a:t>
                      </a:r>
                    </a:p>
                  </a:txBody>
                  <a:tcPr/>
                </a:tc>
                <a:extLst>
                  <a:ext uri="{0D108BD9-81ED-4DB2-BD59-A6C34878D82A}">
                    <a16:rowId xmlns:a16="http://schemas.microsoft.com/office/drawing/2014/main" val="2633202522"/>
                  </a:ext>
                </a:extLst>
              </a:tr>
            </a:tbl>
          </a:graphicData>
        </a:graphic>
      </p:graphicFrame>
      <p:sp>
        <p:nvSpPr>
          <p:cNvPr id="6" name="TextBox 5">
            <a:extLst>
              <a:ext uri="{FF2B5EF4-FFF2-40B4-BE49-F238E27FC236}">
                <a16:creationId xmlns:a16="http://schemas.microsoft.com/office/drawing/2014/main" id="{97A25484-F528-5463-BE22-3079C1ED834A}"/>
              </a:ext>
            </a:extLst>
          </p:cNvPr>
          <p:cNvSpPr txBox="1"/>
          <p:nvPr/>
        </p:nvSpPr>
        <p:spPr>
          <a:xfrm>
            <a:off x="1620078" y="5925066"/>
            <a:ext cx="2782957" cy="369332"/>
          </a:xfrm>
          <a:prstGeom prst="rect">
            <a:avLst/>
          </a:prstGeom>
          <a:noFill/>
        </p:spPr>
        <p:txBody>
          <a:bodyPr wrap="square" rtlCol="0">
            <a:spAutoFit/>
          </a:bodyPr>
          <a:lstStyle/>
          <a:p>
            <a:pPr algn="ctr"/>
            <a:r>
              <a:rPr lang="en-IN" dirty="0"/>
              <a:t>Testing standard</a:t>
            </a:r>
          </a:p>
        </p:txBody>
      </p:sp>
      <p:sp>
        <p:nvSpPr>
          <p:cNvPr id="10" name="TextBox 9">
            <a:extLst>
              <a:ext uri="{FF2B5EF4-FFF2-40B4-BE49-F238E27FC236}">
                <a16:creationId xmlns:a16="http://schemas.microsoft.com/office/drawing/2014/main" id="{4C009AC1-E838-00AA-DA28-F23A64251D43}"/>
              </a:ext>
            </a:extLst>
          </p:cNvPr>
          <p:cNvSpPr txBox="1"/>
          <p:nvPr/>
        </p:nvSpPr>
        <p:spPr>
          <a:xfrm>
            <a:off x="7110539" y="5867891"/>
            <a:ext cx="2782957" cy="369332"/>
          </a:xfrm>
          <a:prstGeom prst="rect">
            <a:avLst/>
          </a:prstGeom>
          <a:noFill/>
        </p:spPr>
        <p:txBody>
          <a:bodyPr wrap="square" rtlCol="0">
            <a:spAutoFit/>
          </a:bodyPr>
          <a:lstStyle/>
          <a:p>
            <a:pPr algn="ctr"/>
            <a:r>
              <a:rPr lang="en-IN" dirty="0"/>
              <a:t>Performance Criterion</a:t>
            </a:r>
          </a:p>
        </p:txBody>
      </p:sp>
    </p:spTree>
    <p:extLst>
      <p:ext uri="{BB962C8B-B14F-4D97-AF65-F5344CB8AC3E}">
        <p14:creationId xmlns:p14="http://schemas.microsoft.com/office/powerpoint/2010/main" val="3122749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713784B-D35D-F0E3-9623-5DAB9BF0357F}"/>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44C20B41-41CA-A55C-928E-5AFA1DA6FE23}"/>
              </a:ext>
            </a:extLst>
          </p:cNvPr>
          <p:cNvSpPr/>
          <p:nvPr/>
        </p:nvSpPr>
        <p:spPr>
          <a:xfrm>
            <a:off x="-103239" y="6592262"/>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Slide Number Placeholder 13">
            <a:extLst>
              <a:ext uri="{FF2B5EF4-FFF2-40B4-BE49-F238E27FC236}">
                <a16:creationId xmlns:a16="http://schemas.microsoft.com/office/drawing/2014/main" id="{5D9BFFD9-F7B3-209C-33D9-74B7E7F4009D}"/>
              </a:ext>
            </a:extLst>
          </p:cNvPr>
          <p:cNvSpPr>
            <a:spLocks noGrp="1"/>
          </p:cNvSpPr>
          <p:nvPr>
            <p:ph type="sldNum" sz="quarter" idx="12"/>
          </p:nvPr>
        </p:nvSpPr>
        <p:spPr/>
        <p:txBody>
          <a:bodyPr/>
          <a:lstStyle/>
          <a:p>
            <a:fld id="{D35EF2C4-5B37-4EC4-92A6-F918E903B68D}" type="slidenum">
              <a:rPr lang="en-IN" smtClean="0"/>
              <a:t>7</a:t>
            </a:fld>
            <a:endParaRPr lang="en-IN"/>
          </a:p>
        </p:txBody>
      </p:sp>
      <p:sp>
        <p:nvSpPr>
          <p:cNvPr id="2" name="Title 1">
            <a:extLst>
              <a:ext uri="{FF2B5EF4-FFF2-40B4-BE49-F238E27FC236}">
                <a16:creationId xmlns:a16="http://schemas.microsoft.com/office/drawing/2014/main" id="{973462A7-1B88-3160-9F1F-FEAFD9F19245}"/>
              </a:ext>
            </a:extLst>
          </p:cNvPr>
          <p:cNvSpPr>
            <a:spLocks noGrp="1"/>
          </p:cNvSpPr>
          <p:nvPr>
            <p:ph type="title"/>
          </p:nvPr>
        </p:nvSpPr>
        <p:spPr>
          <a:xfrm>
            <a:off x="838199" y="28498"/>
            <a:ext cx="10515600" cy="1325563"/>
          </a:xfrm>
        </p:spPr>
        <p:txBody>
          <a:bodyPr/>
          <a:lstStyle/>
          <a:p>
            <a:pPr lvl="0" algn="ctr"/>
            <a:r>
              <a:rPr lang="en-IN" dirty="0">
                <a:latin typeface="Times New Roman" panose="02020603050405020304" pitchFamily="18" charset="0"/>
                <a:cs typeface="Times New Roman" panose="02020603050405020304" pitchFamily="18" charset="0"/>
              </a:rPr>
              <a:t>Block Diagram of RI testing</a:t>
            </a:r>
          </a:p>
        </p:txBody>
      </p:sp>
      <p:sp>
        <p:nvSpPr>
          <p:cNvPr id="3" name="Rectangle 2">
            <a:extLst>
              <a:ext uri="{FF2B5EF4-FFF2-40B4-BE49-F238E27FC236}">
                <a16:creationId xmlns:a16="http://schemas.microsoft.com/office/drawing/2014/main" id="{F4162B5B-C9E6-9822-7CF5-A36F09C2AD1D}"/>
              </a:ext>
            </a:extLst>
          </p:cNvPr>
          <p:cNvSpPr/>
          <p:nvPr/>
        </p:nvSpPr>
        <p:spPr>
          <a:xfrm>
            <a:off x="283679" y="1725525"/>
            <a:ext cx="2454965" cy="10734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Test Signal Generator </a:t>
            </a:r>
          </a:p>
        </p:txBody>
      </p:sp>
      <p:sp>
        <p:nvSpPr>
          <p:cNvPr id="20" name="Isosceles Triangle 19">
            <a:extLst>
              <a:ext uri="{FF2B5EF4-FFF2-40B4-BE49-F238E27FC236}">
                <a16:creationId xmlns:a16="http://schemas.microsoft.com/office/drawing/2014/main" id="{F64E36F0-FF55-AE87-6AD3-20D42C029DC8}"/>
              </a:ext>
            </a:extLst>
          </p:cNvPr>
          <p:cNvSpPr/>
          <p:nvPr/>
        </p:nvSpPr>
        <p:spPr>
          <a:xfrm rot="5400000">
            <a:off x="3889513" y="1183842"/>
            <a:ext cx="1441174" cy="215679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Arrow: Chevron 20">
            <a:extLst>
              <a:ext uri="{FF2B5EF4-FFF2-40B4-BE49-F238E27FC236}">
                <a16:creationId xmlns:a16="http://schemas.microsoft.com/office/drawing/2014/main" id="{D57DB2C6-461F-1E52-A2FF-2EE2BEDB3804}"/>
              </a:ext>
            </a:extLst>
          </p:cNvPr>
          <p:cNvSpPr/>
          <p:nvPr/>
        </p:nvSpPr>
        <p:spPr>
          <a:xfrm rot="10800000">
            <a:off x="6503506" y="1499825"/>
            <a:ext cx="1798983" cy="1524826"/>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22" name="Rectangle 21">
            <a:extLst>
              <a:ext uri="{FF2B5EF4-FFF2-40B4-BE49-F238E27FC236}">
                <a16:creationId xmlns:a16="http://schemas.microsoft.com/office/drawing/2014/main" id="{35FA24EF-2274-894C-F5F2-DFDBAF8F4C3A}"/>
              </a:ext>
            </a:extLst>
          </p:cNvPr>
          <p:cNvSpPr/>
          <p:nvPr/>
        </p:nvSpPr>
        <p:spPr>
          <a:xfrm>
            <a:off x="9571663" y="1830029"/>
            <a:ext cx="1371599" cy="7553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DUT</a:t>
            </a:r>
          </a:p>
        </p:txBody>
      </p:sp>
      <p:pic>
        <p:nvPicPr>
          <p:cNvPr id="2050" name="Picture 2" descr="Amplifier Research (AR) FL7006 Electric Field Probe Kit, 100 kHz - 6 GHz -  The EMC Shop">
            <a:extLst>
              <a:ext uri="{FF2B5EF4-FFF2-40B4-BE49-F238E27FC236}">
                <a16:creationId xmlns:a16="http://schemas.microsoft.com/office/drawing/2014/main" id="{26E9CED0-0CEF-B124-89D7-E650528973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632" t="4901" r="847" b="17977"/>
          <a:stretch>
            <a:fillRect/>
          </a:stretch>
        </p:blipFill>
        <p:spPr bwMode="auto">
          <a:xfrm>
            <a:off x="3906078" y="4489068"/>
            <a:ext cx="3870463" cy="17284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mplifier Research (AR) FL7006 Electric Field Probe Kit, 100 kHz - 6 GHz -  The EMC Shop">
            <a:extLst>
              <a:ext uri="{FF2B5EF4-FFF2-40B4-BE49-F238E27FC236}">
                <a16:creationId xmlns:a16="http://schemas.microsoft.com/office/drawing/2014/main" id="{80E5C57B-5FD1-49FC-8AE2-300BCA15B4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715" r="64293" b="4462"/>
          <a:stretch>
            <a:fillRect/>
          </a:stretch>
        </p:blipFill>
        <p:spPr bwMode="auto">
          <a:xfrm>
            <a:off x="9416089" y="3048716"/>
            <a:ext cx="1682745" cy="1524827"/>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6E133A2D-5562-DC55-93B1-91284A58BC05}"/>
              </a:ext>
            </a:extLst>
          </p:cNvPr>
          <p:cNvSpPr txBox="1"/>
          <p:nvPr/>
        </p:nvSpPr>
        <p:spPr>
          <a:xfrm>
            <a:off x="3555722" y="1917691"/>
            <a:ext cx="1234110" cy="646331"/>
          </a:xfrm>
          <a:prstGeom prst="rect">
            <a:avLst/>
          </a:prstGeom>
          <a:noFill/>
        </p:spPr>
        <p:txBody>
          <a:bodyPr wrap="square" rtlCol="0">
            <a:spAutoFit/>
          </a:bodyPr>
          <a:lstStyle/>
          <a:p>
            <a:pPr algn="ctr"/>
            <a:r>
              <a:rPr lang="en-IN" dirty="0">
                <a:solidFill>
                  <a:schemeClr val="bg1"/>
                </a:solidFill>
              </a:rPr>
              <a:t>Power Amplifier</a:t>
            </a:r>
          </a:p>
        </p:txBody>
      </p:sp>
      <p:sp>
        <p:nvSpPr>
          <p:cNvPr id="24" name="TextBox 23">
            <a:extLst>
              <a:ext uri="{FF2B5EF4-FFF2-40B4-BE49-F238E27FC236}">
                <a16:creationId xmlns:a16="http://schemas.microsoft.com/office/drawing/2014/main" id="{1D96EB8F-1754-B8C1-C8E8-4E8D09F5D15B}"/>
              </a:ext>
            </a:extLst>
          </p:cNvPr>
          <p:cNvSpPr txBox="1"/>
          <p:nvPr/>
        </p:nvSpPr>
        <p:spPr>
          <a:xfrm>
            <a:off x="6542431" y="1884551"/>
            <a:ext cx="1234110" cy="646331"/>
          </a:xfrm>
          <a:prstGeom prst="rect">
            <a:avLst/>
          </a:prstGeom>
          <a:noFill/>
        </p:spPr>
        <p:txBody>
          <a:bodyPr wrap="square" rtlCol="0">
            <a:spAutoFit/>
          </a:bodyPr>
          <a:lstStyle/>
          <a:p>
            <a:pPr algn="ctr"/>
            <a:r>
              <a:rPr lang="en-IN" dirty="0">
                <a:solidFill>
                  <a:schemeClr val="bg1"/>
                </a:solidFill>
              </a:rPr>
              <a:t>Horn Antenna</a:t>
            </a:r>
          </a:p>
        </p:txBody>
      </p:sp>
      <p:cxnSp>
        <p:nvCxnSpPr>
          <p:cNvPr id="26" name="Straight Arrow Connector 25">
            <a:extLst>
              <a:ext uri="{FF2B5EF4-FFF2-40B4-BE49-F238E27FC236}">
                <a16:creationId xmlns:a16="http://schemas.microsoft.com/office/drawing/2014/main" id="{E9478D3F-3A2A-A3DB-F2A9-546D53101852}"/>
              </a:ext>
            </a:extLst>
          </p:cNvPr>
          <p:cNvCxnSpPr>
            <a:stCxn id="3" idx="3"/>
            <a:endCxn id="20" idx="3"/>
          </p:cNvCxnSpPr>
          <p:nvPr/>
        </p:nvCxnSpPr>
        <p:spPr>
          <a:xfrm>
            <a:off x="2738644" y="2262238"/>
            <a:ext cx="79306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0" name="Straight Arrow Connector 29">
            <a:extLst>
              <a:ext uri="{FF2B5EF4-FFF2-40B4-BE49-F238E27FC236}">
                <a16:creationId xmlns:a16="http://schemas.microsoft.com/office/drawing/2014/main" id="{81AFBEB8-53DD-7A03-A9A5-15BD4E8F8761}"/>
              </a:ext>
            </a:extLst>
          </p:cNvPr>
          <p:cNvCxnSpPr>
            <a:stCxn id="20" idx="0"/>
          </p:cNvCxnSpPr>
          <p:nvPr/>
        </p:nvCxnSpPr>
        <p:spPr>
          <a:xfrm>
            <a:off x="5688496" y="2262238"/>
            <a:ext cx="853935"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4" name="Straight Arrow Connector 33">
            <a:extLst>
              <a:ext uri="{FF2B5EF4-FFF2-40B4-BE49-F238E27FC236}">
                <a16:creationId xmlns:a16="http://schemas.microsoft.com/office/drawing/2014/main" id="{2A8F144E-E3E9-DF0C-9610-BE287CF08648}"/>
              </a:ext>
            </a:extLst>
          </p:cNvPr>
          <p:cNvCxnSpPr>
            <a:cxnSpLocks/>
          </p:cNvCxnSpPr>
          <p:nvPr/>
        </p:nvCxnSpPr>
        <p:spPr>
          <a:xfrm>
            <a:off x="7790836" y="2240856"/>
            <a:ext cx="1625253" cy="21382"/>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5" name="Straight Arrow Connector 34">
            <a:extLst>
              <a:ext uri="{FF2B5EF4-FFF2-40B4-BE49-F238E27FC236}">
                <a16:creationId xmlns:a16="http://schemas.microsoft.com/office/drawing/2014/main" id="{6B6CFE97-41A1-F9C4-21D0-201574932E57}"/>
              </a:ext>
            </a:extLst>
          </p:cNvPr>
          <p:cNvCxnSpPr>
            <a:cxnSpLocks/>
          </p:cNvCxnSpPr>
          <p:nvPr/>
        </p:nvCxnSpPr>
        <p:spPr>
          <a:xfrm>
            <a:off x="7888361" y="2433003"/>
            <a:ext cx="1527728"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36" name="Straight Arrow Connector 35">
            <a:extLst>
              <a:ext uri="{FF2B5EF4-FFF2-40B4-BE49-F238E27FC236}">
                <a16:creationId xmlns:a16="http://schemas.microsoft.com/office/drawing/2014/main" id="{0844D612-AEE8-2782-3160-BE3546BB603A}"/>
              </a:ext>
            </a:extLst>
          </p:cNvPr>
          <p:cNvCxnSpPr>
            <a:cxnSpLocks/>
          </p:cNvCxnSpPr>
          <p:nvPr/>
        </p:nvCxnSpPr>
        <p:spPr>
          <a:xfrm>
            <a:off x="8176594" y="2694733"/>
            <a:ext cx="123949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2" name="Straight Arrow Connector 41">
            <a:extLst>
              <a:ext uri="{FF2B5EF4-FFF2-40B4-BE49-F238E27FC236}">
                <a16:creationId xmlns:a16="http://schemas.microsoft.com/office/drawing/2014/main" id="{13B4962E-6056-5048-25CE-BB6FD813369E}"/>
              </a:ext>
            </a:extLst>
          </p:cNvPr>
          <p:cNvCxnSpPr>
            <a:cxnSpLocks/>
          </p:cNvCxnSpPr>
          <p:nvPr/>
        </p:nvCxnSpPr>
        <p:spPr>
          <a:xfrm>
            <a:off x="7932115" y="2032058"/>
            <a:ext cx="1483974" cy="3803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43" name="Straight Arrow Connector 42">
            <a:extLst>
              <a:ext uri="{FF2B5EF4-FFF2-40B4-BE49-F238E27FC236}">
                <a16:creationId xmlns:a16="http://schemas.microsoft.com/office/drawing/2014/main" id="{AAD8D325-83AA-1974-A4A8-451A15000ADD}"/>
              </a:ext>
            </a:extLst>
          </p:cNvPr>
          <p:cNvCxnSpPr>
            <a:cxnSpLocks/>
          </p:cNvCxnSpPr>
          <p:nvPr/>
        </p:nvCxnSpPr>
        <p:spPr>
          <a:xfrm>
            <a:off x="8163341" y="1788134"/>
            <a:ext cx="1252748" cy="4189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54" name="Connector: Elbow 53">
            <a:extLst>
              <a:ext uri="{FF2B5EF4-FFF2-40B4-BE49-F238E27FC236}">
                <a16:creationId xmlns:a16="http://schemas.microsoft.com/office/drawing/2014/main" id="{4A077739-2B5C-2E8C-48BA-BACE2B621E5E}"/>
              </a:ext>
            </a:extLst>
          </p:cNvPr>
          <p:cNvCxnSpPr>
            <a:cxnSpLocks/>
          </p:cNvCxnSpPr>
          <p:nvPr/>
        </p:nvCxnSpPr>
        <p:spPr>
          <a:xfrm rot="10800000" flipV="1">
            <a:off x="7593497" y="4346752"/>
            <a:ext cx="1809961" cy="460705"/>
          </a:xfrm>
          <a:prstGeom prst="bentConnector3">
            <a:avLst>
              <a:gd name="adj1" fmla="val 20896"/>
            </a:avLst>
          </a:prstGeom>
          <a:ln>
            <a:prstDash val="dash"/>
            <a:tailEnd type="triangle"/>
          </a:ln>
        </p:spPr>
        <p:style>
          <a:lnRef idx="3">
            <a:schemeClr val="accent2"/>
          </a:lnRef>
          <a:fillRef idx="0">
            <a:schemeClr val="accent2"/>
          </a:fillRef>
          <a:effectRef idx="2">
            <a:schemeClr val="accent2"/>
          </a:effectRef>
          <a:fontRef idx="minor">
            <a:schemeClr val="tx1"/>
          </a:fontRef>
        </p:style>
      </p:cxnSp>
      <p:cxnSp>
        <p:nvCxnSpPr>
          <p:cNvPr id="56" name="Connector: Elbow 55">
            <a:extLst>
              <a:ext uri="{FF2B5EF4-FFF2-40B4-BE49-F238E27FC236}">
                <a16:creationId xmlns:a16="http://schemas.microsoft.com/office/drawing/2014/main" id="{7E754E51-85E2-89FB-8407-696E1957C539}"/>
              </a:ext>
            </a:extLst>
          </p:cNvPr>
          <p:cNvCxnSpPr>
            <a:cxnSpLocks/>
            <a:stCxn id="2052" idx="2"/>
          </p:cNvCxnSpPr>
          <p:nvPr/>
        </p:nvCxnSpPr>
        <p:spPr>
          <a:xfrm rot="5400000">
            <a:off x="8618466" y="3749231"/>
            <a:ext cx="814684" cy="2463308"/>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sp>
        <p:nvSpPr>
          <p:cNvPr id="2049" name="TextBox 2048">
            <a:extLst>
              <a:ext uri="{FF2B5EF4-FFF2-40B4-BE49-F238E27FC236}">
                <a16:creationId xmlns:a16="http://schemas.microsoft.com/office/drawing/2014/main" id="{BC7DCAAA-5B1D-CDCC-FF72-8B55EB02BB0B}"/>
              </a:ext>
            </a:extLst>
          </p:cNvPr>
          <p:cNvSpPr txBox="1"/>
          <p:nvPr/>
        </p:nvSpPr>
        <p:spPr>
          <a:xfrm>
            <a:off x="7888361" y="4346752"/>
            <a:ext cx="997222" cy="369332"/>
          </a:xfrm>
          <a:prstGeom prst="rect">
            <a:avLst/>
          </a:prstGeom>
          <a:noFill/>
        </p:spPr>
        <p:txBody>
          <a:bodyPr wrap="square" rtlCol="0">
            <a:spAutoFit/>
          </a:bodyPr>
          <a:lstStyle/>
          <a:p>
            <a:pPr algn="ctr"/>
            <a:r>
              <a:rPr lang="en-IN" dirty="0"/>
              <a:t>Data</a:t>
            </a:r>
          </a:p>
        </p:txBody>
      </p:sp>
      <p:sp>
        <p:nvSpPr>
          <p:cNvPr id="2051" name="TextBox 2050">
            <a:extLst>
              <a:ext uri="{FF2B5EF4-FFF2-40B4-BE49-F238E27FC236}">
                <a16:creationId xmlns:a16="http://schemas.microsoft.com/office/drawing/2014/main" id="{2DC16558-BE4A-14E3-2D63-4AF04528DB67}"/>
              </a:ext>
            </a:extLst>
          </p:cNvPr>
          <p:cNvSpPr txBox="1"/>
          <p:nvPr/>
        </p:nvSpPr>
        <p:spPr>
          <a:xfrm>
            <a:off x="8610600" y="4990689"/>
            <a:ext cx="1192695" cy="369332"/>
          </a:xfrm>
          <a:prstGeom prst="rect">
            <a:avLst/>
          </a:prstGeom>
          <a:noFill/>
        </p:spPr>
        <p:txBody>
          <a:bodyPr wrap="square" rtlCol="0">
            <a:spAutoFit/>
          </a:bodyPr>
          <a:lstStyle/>
          <a:p>
            <a:pPr algn="ctr"/>
            <a:r>
              <a:rPr lang="en-IN" dirty="0"/>
              <a:t>Power</a:t>
            </a:r>
          </a:p>
        </p:txBody>
      </p:sp>
      <p:sp>
        <p:nvSpPr>
          <p:cNvPr id="2053" name="TextBox 2052">
            <a:extLst>
              <a:ext uri="{FF2B5EF4-FFF2-40B4-BE49-F238E27FC236}">
                <a16:creationId xmlns:a16="http://schemas.microsoft.com/office/drawing/2014/main" id="{16EB0C87-E33B-FCEB-FFF1-7DDBB97155D8}"/>
              </a:ext>
            </a:extLst>
          </p:cNvPr>
          <p:cNvSpPr txBox="1"/>
          <p:nvPr/>
        </p:nvSpPr>
        <p:spPr>
          <a:xfrm>
            <a:off x="11231775" y="3588763"/>
            <a:ext cx="795130" cy="646331"/>
          </a:xfrm>
          <a:prstGeom prst="rect">
            <a:avLst/>
          </a:prstGeom>
          <a:noFill/>
        </p:spPr>
        <p:txBody>
          <a:bodyPr wrap="square" rtlCol="0">
            <a:spAutoFit/>
          </a:bodyPr>
          <a:lstStyle/>
          <a:p>
            <a:pPr algn="ctr"/>
            <a:r>
              <a:rPr lang="en-IN" dirty="0"/>
              <a:t>Field Probe</a:t>
            </a:r>
          </a:p>
        </p:txBody>
      </p:sp>
      <p:sp>
        <p:nvSpPr>
          <p:cNvPr id="2054" name="TextBox 2053">
            <a:extLst>
              <a:ext uri="{FF2B5EF4-FFF2-40B4-BE49-F238E27FC236}">
                <a16:creationId xmlns:a16="http://schemas.microsoft.com/office/drawing/2014/main" id="{6A0DC583-2B61-480A-E6B6-AC7EB39103D8}"/>
              </a:ext>
            </a:extLst>
          </p:cNvPr>
          <p:cNvSpPr txBox="1"/>
          <p:nvPr/>
        </p:nvSpPr>
        <p:spPr>
          <a:xfrm>
            <a:off x="4172777" y="4048578"/>
            <a:ext cx="2156791" cy="369332"/>
          </a:xfrm>
          <a:prstGeom prst="rect">
            <a:avLst/>
          </a:prstGeom>
          <a:noFill/>
        </p:spPr>
        <p:txBody>
          <a:bodyPr wrap="square" rtlCol="0">
            <a:spAutoFit/>
          </a:bodyPr>
          <a:lstStyle/>
          <a:p>
            <a:pPr algn="ctr"/>
            <a:r>
              <a:rPr lang="en-IN" dirty="0"/>
              <a:t>Probe Interface</a:t>
            </a:r>
          </a:p>
        </p:txBody>
      </p:sp>
      <p:sp>
        <p:nvSpPr>
          <p:cNvPr id="2055" name="TextBox 2054">
            <a:extLst>
              <a:ext uri="{FF2B5EF4-FFF2-40B4-BE49-F238E27FC236}">
                <a16:creationId xmlns:a16="http://schemas.microsoft.com/office/drawing/2014/main" id="{8252F870-C9D1-CA7B-CC00-64DAD8502DF1}"/>
              </a:ext>
            </a:extLst>
          </p:cNvPr>
          <p:cNvSpPr txBox="1"/>
          <p:nvPr/>
        </p:nvSpPr>
        <p:spPr>
          <a:xfrm>
            <a:off x="8218007" y="2730353"/>
            <a:ext cx="1798983"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Electromagnetic Radiation Field</a:t>
            </a:r>
          </a:p>
        </p:txBody>
      </p:sp>
    </p:spTree>
    <p:extLst>
      <p:ext uri="{BB962C8B-B14F-4D97-AF65-F5344CB8AC3E}">
        <p14:creationId xmlns:p14="http://schemas.microsoft.com/office/powerpoint/2010/main" val="2690656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0842D-C78C-7025-05AB-EFEAF4DB0FE1}"/>
              </a:ext>
            </a:extLst>
          </p:cNvPr>
          <p:cNvSpPr>
            <a:spLocks noGrp="1"/>
          </p:cNvSpPr>
          <p:nvPr>
            <p:ph type="title"/>
          </p:nvPr>
        </p:nvSpPr>
        <p:spPr>
          <a:xfrm>
            <a:off x="852947" y="1"/>
            <a:ext cx="10199366" cy="792268"/>
          </a:xfrm>
        </p:spPr>
        <p:txBody>
          <a:bodyPr/>
          <a:lstStyle/>
          <a:p>
            <a:pPr lvl="0" algn="ctr"/>
            <a:r>
              <a:rPr lang="en-IN" dirty="0">
                <a:latin typeface="Times New Roman" panose="02020603050405020304" pitchFamily="18" charset="0"/>
                <a:cs typeface="Times New Roman" panose="02020603050405020304" pitchFamily="18" charset="0"/>
              </a:rPr>
              <a:t>Earlier Signal Chain Setup </a:t>
            </a:r>
          </a:p>
        </p:txBody>
      </p:sp>
      <p:sp>
        <p:nvSpPr>
          <p:cNvPr id="4" name="Rectangle: Rounded Corners 3">
            <a:extLst>
              <a:ext uri="{FF2B5EF4-FFF2-40B4-BE49-F238E27FC236}">
                <a16:creationId xmlns:a16="http://schemas.microsoft.com/office/drawing/2014/main" id="{F755A253-B156-CADC-B038-D200869FC430}"/>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4EDFD717-E0D7-9386-27CF-5F332F28C705}"/>
              </a:ext>
            </a:extLst>
          </p:cNvPr>
          <p:cNvSpPr/>
          <p:nvPr/>
        </p:nvSpPr>
        <p:spPr>
          <a:xfrm>
            <a:off x="-103239" y="6613514"/>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lide Number Placeholder 7">
            <a:extLst>
              <a:ext uri="{FF2B5EF4-FFF2-40B4-BE49-F238E27FC236}">
                <a16:creationId xmlns:a16="http://schemas.microsoft.com/office/drawing/2014/main" id="{0613B92A-E3BD-DC90-4510-25CD9324B015}"/>
              </a:ext>
            </a:extLst>
          </p:cNvPr>
          <p:cNvSpPr>
            <a:spLocks noGrp="1"/>
          </p:cNvSpPr>
          <p:nvPr>
            <p:ph type="sldNum" sz="quarter" idx="12"/>
          </p:nvPr>
        </p:nvSpPr>
        <p:spPr/>
        <p:txBody>
          <a:bodyPr/>
          <a:lstStyle/>
          <a:p>
            <a:fld id="{D35EF2C4-5B37-4EC4-92A6-F918E903B68D}" type="slidenum">
              <a:rPr lang="en-IN" smtClean="0"/>
              <a:t>8</a:t>
            </a:fld>
            <a:endParaRPr lang="en-IN"/>
          </a:p>
        </p:txBody>
      </p:sp>
      <p:sp>
        <p:nvSpPr>
          <p:cNvPr id="9" name="Rectangle 8">
            <a:extLst>
              <a:ext uri="{FF2B5EF4-FFF2-40B4-BE49-F238E27FC236}">
                <a16:creationId xmlns:a16="http://schemas.microsoft.com/office/drawing/2014/main" id="{C8DCA70A-C854-BD8D-39B3-CEC2B6AF6E28}"/>
              </a:ext>
            </a:extLst>
          </p:cNvPr>
          <p:cNvSpPr/>
          <p:nvPr/>
        </p:nvSpPr>
        <p:spPr>
          <a:xfrm>
            <a:off x="622849" y="2395449"/>
            <a:ext cx="1919748" cy="1560206"/>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9CAA9F66-74DC-9A68-1659-8592B6E40BD5}"/>
              </a:ext>
            </a:extLst>
          </p:cNvPr>
          <p:cNvSpPr/>
          <p:nvPr/>
        </p:nvSpPr>
        <p:spPr>
          <a:xfrm>
            <a:off x="5148467" y="2521584"/>
            <a:ext cx="346051" cy="476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3E3B0CFE-51F1-602D-3A1C-D256BCBB42DF}"/>
              </a:ext>
            </a:extLst>
          </p:cNvPr>
          <p:cNvSpPr/>
          <p:nvPr/>
        </p:nvSpPr>
        <p:spPr>
          <a:xfrm>
            <a:off x="5148467" y="3429000"/>
            <a:ext cx="346051" cy="47651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423A1199-8C5A-875A-6327-59DE3B8FC37E}"/>
              </a:ext>
            </a:extLst>
          </p:cNvPr>
          <p:cNvSpPr/>
          <p:nvPr/>
        </p:nvSpPr>
        <p:spPr>
          <a:xfrm>
            <a:off x="7573616" y="1890365"/>
            <a:ext cx="2840773" cy="250895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IN"/>
          </a:p>
        </p:txBody>
      </p:sp>
      <p:sp>
        <p:nvSpPr>
          <p:cNvPr id="13" name="Arrow: Curved Left 12">
            <a:extLst>
              <a:ext uri="{FF2B5EF4-FFF2-40B4-BE49-F238E27FC236}">
                <a16:creationId xmlns:a16="http://schemas.microsoft.com/office/drawing/2014/main" id="{20AAE819-7EE6-DCF9-5DCB-55A0917B17B8}"/>
              </a:ext>
            </a:extLst>
          </p:cNvPr>
          <p:cNvSpPr/>
          <p:nvPr/>
        </p:nvSpPr>
        <p:spPr>
          <a:xfrm>
            <a:off x="10414389" y="2266121"/>
            <a:ext cx="1242391" cy="1818861"/>
          </a:xfrm>
          <a:prstGeom prst="curvedLef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a:solidFill>
                <a:schemeClr val="tx1"/>
              </a:solidFill>
            </a:endParaRPr>
          </a:p>
        </p:txBody>
      </p:sp>
      <p:cxnSp>
        <p:nvCxnSpPr>
          <p:cNvPr id="15" name="Straight Arrow Connector 14">
            <a:extLst>
              <a:ext uri="{FF2B5EF4-FFF2-40B4-BE49-F238E27FC236}">
                <a16:creationId xmlns:a16="http://schemas.microsoft.com/office/drawing/2014/main" id="{0E87E4D7-2C3E-0DDE-D020-C207449B675E}"/>
              </a:ext>
            </a:extLst>
          </p:cNvPr>
          <p:cNvCxnSpPr>
            <a:endCxn id="10" idx="1"/>
          </p:cNvCxnSpPr>
          <p:nvPr/>
        </p:nvCxnSpPr>
        <p:spPr>
          <a:xfrm>
            <a:off x="2542597" y="2759839"/>
            <a:ext cx="260587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6" name="Straight Arrow Connector 15">
            <a:extLst>
              <a:ext uri="{FF2B5EF4-FFF2-40B4-BE49-F238E27FC236}">
                <a16:creationId xmlns:a16="http://schemas.microsoft.com/office/drawing/2014/main" id="{314FAB5B-6EDA-0968-6023-F21012022FA7}"/>
              </a:ext>
            </a:extLst>
          </p:cNvPr>
          <p:cNvCxnSpPr>
            <a:cxnSpLocks/>
          </p:cNvCxnSpPr>
          <p:nvPr/>
        </p:nvCxnSpPr>
        <p:spPr>
          <a:xfrm>
            <a:off x="5494518" y="2740035"/>
            <a:ext cx="2079098"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9" name="Straight Arrow Connector 18">
            <a:extLst>
              <a:ext uri="{FF2B5EF4-FFF2-40B4-BE49-F238E27FC236}">
                <a16:creationId xmlns:a16="http://schemas.microsoft.com/office/drawing/2014/main" id="{25CBCF57-2F78-CE37-495D-2B2F1F9317CC}"/>
              </a:ext>
            </a:extLst>
          </p:cNvPr>
          <p:cNvCxnSpPr>
            <a:cxnSpLocks/>
            <a:endCxn id="11" idx="3"/>
          </p:cNvCxnSpPr>
          <p:nvPr/>
        </p:nvCxnSpPr>
        <p:spPr>
          <a:xfrm flipH="1">
            <a:off x="5494518" y="3667255"/>
            <a:ext cx="2079098"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2" name="Straight Arrow Connector 21">
            <a:extLst>
              <a:ext uri="{FF2B5EF4-FFF2-40B4-BE49-F238E27FC236}">
                <a16:creationId xmlns:a16="http://schemas.microsoft.com/office/drawing/2014/main" id="{BD9235EA-BE59-6C4C-01B2-97BEEDEB9A59}"/>
              </a:ext>
            </a:extLst>
          </p:cNvPr>
          <p:cNvCxnSpPr>
            <a:stCxn id="11" idx="1"/>
          </p:cNvCxnSpPr>
          <p:nvPr/>
        </p:nvCxnSpPr>
        <p:spPr>
          <a:xfrm flipH="1">
            <a:off x="2542597" y="3667255"/>
            <a:ext cx="2605870" cy="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4" name="Straight Connector 23">
            <a:extLst>
              <a:ext uri="{FF2B5EF4-FFF2-40B4-BE49-F238E27FC236}">
                <a16:creationId xmlns:a16="http://schemas.microsoft.com/office/drawing/2014/main" id="{4082BA8D-D0C8-B373-1DB4-D472B2642F20}"/>
              </a:ext>
            </a:extLst>
          </p:cNvPr>
          <p:cNvCxnSpPr>
            <a:cxnSpLocks/>
          </p:cNvCxnSpPr>
          <p:nvPr/>
        </p:nvCxnSpPr>
        <p:spPr>
          <a:xfrm>
            <a:off x="8714817" y="1353409"/>
            <a:ext cx="0" cy="3773211"/>
          </a:xfrm>
          <a:prstGeom prst="line">
            <a:avLst/>
          </a:prstGeom>
          <a:ln w="381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9824DB5-AD2D-D687-900A-D37EE9B69DBB}"/>
              </a:ext>
            </a:extLst>
          </p:cNvPr>
          <p:cNvCxnSpPr>
            <a:cxnSpLocks/>
          </p:cNvCxnSpPr>
          <p:nvPr/>
        </p:nvCxnSpPr>
        <p:spPr>
          <a:xfrm>
            <a:off x="9465365" y="1353410"/>
            <a:ext cx="0" cy="3773211"/>
          </a:xfrm>
          <a:prstGeom prst="line">
            <a:avLst/>
          </a:prstGeom>
          <a:ln w="38100">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48B698B-5762-8047-6698-A419F0441279}"/>
              </a:ext>
            </a:extLst>
          </p:cNvPr>
          <p:cNvSpPr txBox="1"/>
          <p:nvPr/>
        </p:nvSpPr>
        <p:spPr>
          <a:xfrm rot="16200000">
            <a:off x="7914861" y="2852385"/>
            <a:ext cx="2246244" cy="646331"/>
          </a:xfrm>
          <a:prstGeom prst="rect">
            <a:avLst/>
          </a:prstGeom>
          <a:noFill/>
        </p:spPr>
        <p:txBody>
          <a:bodyPr wrap="square" rtlCol="0">
            <a:spAutoFit/>
          </a:bodyPr>
          <a:lstStyle/>
          <a:p>
            <a:pPr algn="ctr"/>
            <a:r>
              <a:rPr lang="en-IN" sz="3600" dirty="0">
                <a:latin typeface="Times New Roman" panose="02020603050405020304" pitchFamily="18" charset="0"/>
                <a:cs typeface="Times New Roman" panose="02020603050405020304" pitchFamily="18" charset="0"/>
              </a:rPr>
              <a:t>Isolation</a:t>
            </a:r>
            <a:r>
              <a:rPr lang="en-IN" dirty="0"/>
              <a:t> </a:t>
            </a:r>
          </a:p>
        </p:txBody>
      </p:sp>
      <p:sp>
        <p:nvSpPr>
          <p:cNvPr id="30" name="TextBox 29">
            <a:extLst>
              <a:ext uri="{FF2B5EF4-FFF2-40B4-BE49-F238E27FC236}">
                <a16:creationId xmlns:a16="http://schemas.microsoft.com/office/drawing/2014/main" id="{00D88EED-6719-2E42-EDA7-33D33C75D4A1}"/>
              </a:ext>
            </a:extLst>
          </p:cNvPr>
          <p:cNvSpPr txBox="1"/>
          <p:nvPr/>
        </p:nvSpPr>
        <p:spPr>
          <a:xfrm>
            <a:off x="476166" y="2975496"/>
            <a:ext cx="2246244" cy="400110"/>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Microprocessor</a:t>
            </a:r>
            <a:r>
              <a:rPr lang="en-IN" sz="2000" dirty="0"/>
              <a:t> </a:t>
            </a:r>
          </a:p>
        </p:txBody>
      </p:sp>
      <p:pic>
        <p:nvPicPr>
          <p:cNvPr id="4098" name="Picture 2" descr="Square Wave | theDAWstudio.com">
            <a:extLst>
              <a:ext uri="{FF2B5EF4-FFF2-40B4-BE49-F238E27FC236}">
                <a16:creationId xmlns:a16="http://schemas.microsoft.com/office/drawing/2014/main" id="{DD1369B9-A97F-BFE3-06B8-AD16CBF439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11" t="29864" r="12073" b="15695"/>
          <a:stretch>
            <a:fillRect/>
          </a:stretch>
        </p:blipFill>
        <p:spPr bwMode="auto">
          <a:xfrm>
            <a:off x="3030652" y="2205866"/>
            <a:ext cx="1220109" cy="497036"/>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Square Wave | theDAWstudio.com">
            <a:extLst>
              <a:ext uri="{FF2B5EF4-FFF2-40B4-BE49-F238E27FC236}">
                <a16:creationId xmlns:a16="http://schemas.microsoft.com/office/drawing/2014/main" id="{8FC70925-6049-8F4B-01DA-36F4CC1678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11" t="29864" r="12073" b="15695"/>
          <a:stretch>
            <a:fillRect/>
          </a:stretch>
        </p:blipFill>
        <p:spPr bwMode="auto">
          <a:xfrm>
            <a:off x="5972059" y="1846709"/>
            <a:ext cx="1220109" cy="79226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Square Wave | theDAWstudio.com">
            <a:extLst>
              <a:ext uri="{FF2B5EF4-FFF2-40B4-BE49-F238E27FC236}">
                <a16:creationId xmlns:a16="http://schemas.microsoft.com/office/drawing/2014/main" id="{8C6749EB-7F13-9C6A-91CB-AAB2DE2278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11" t="29864" r="12073" b="15695"/>
          <a:stretch>
            <a:fillRect/>
          </a:stretch>
        </p:blipFill>
        <p:spPr bwMode="auto">
          <a:xfrm>
            <a:off x="5972058" y="3718409"/>
            <a:ext cx="1220109" cy="79226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Square Wave | theDAWstudio.com">
            <a:extLst>
              <a:ext uri="{FF2B5EF4-FFF2-40B4-BE49-F238E27FC236}">
                <a16:creationId xmlns:a16="http://schemas.microsoft.com/office/drawing/2014/main" id="{A0A0081F-64DE-7EFF-420B-1394D933F0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11" t="29864" r="12073" b="15695"/>
          <a:stretch>
            <a:fillRect/>
          </a:stretch>
        </p:blipFill>
        <p:spPr bwMode="auto">
          <a:xfrm>
            <a:off x="3119980" y="3737009"/>
            <a:ext cx="1220109" cy="497036"/>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33">
            <a:extLst>
              <a:ext uri="{FF2B5EF4-FFF2-40B4-BE49-F238E27FC236}">
                <a16:creationId xmlns:a16="http://schemas.microsoft.com/office/drawing/2014/main" id="{DAEAAFC9-8851-CE79-3564-C589F01E906C}"/>
              </a:ext>
            </a:extLst>
          </p:cNvPr>
          <p:cNvSpPr/>
          <p:nvPr/>
        </p:nvSpPr>
        <p:spPr>
          <a:xfrm>
            <a:off x="4937882" y="2283368"/>
            <a:ext cx="756409" cy="1903224"/>
          </a:xfrm>
          <a:prstGeom prst="rect">
            <a:avLst/>
          </a:prstGeom>
          <a:noFill/>
          <a:ln w="38100">
            <a:solidFill>
              <a:schemeClr val="tx1">
                <a:lumMod val="95000"/>
                <a:lumOff val="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TextBox 34">
            <a:extLst>
              <a:ext uri="{FF2B5EF4-FFF2-40B4-BE49-F238E27FC236}">
                <a16:creationId xmlns:a16="http://schemas.microsoft.com/office/drawing/2014/main" id="{CA1D7E39-2195-A3EB-FE4B-C64E51DF474C}"/>
              </a:ext>
            </a:extLst>
          </p:cNvPr>
          <p:cNvSpPr txBox="1"/>
          <p:nvPr/>
        </p:nvSpPr>
        <p:spPr>
          <a:xfrm>
            <a:off x="2651371" y="1839005"/>
            <a:ext cx="1978669" cy="369332"/>
          </a:xfrm>
          <a:prstGeom prst="rect">
            <a:avLst/>
          </a:prstGeom>
          <a:noFill/>
        </p:spPr>
        <p:txBody>
          <a:bodyPr wrap="square" rtlCol="0">
            <a:spAutoFit/>
          </a:bodyPr>
          <a:lstStyle/>
          <a:p>
            <a:pPr algn="ctr"/>
            <a:r>
              <a:rPr lang="en-IN" dirty="0"/>
              <a:t>3.3V square wave </a:t>
            </a:r>
          </a:p>
        </p:txBody>
      </p:sp>
      <p:sp>
        <p:nvSpPr>
          <p:cNvPr id="36" name="TextBox 35">
            <a:extLst>
              <a:ext uri="{FF2B5EF4-FFF2-40B4-BE49-F238E27FC236}">
                <a16:creationId xmlns:a16="http://schemas.microsoft.com/office/drawing/2014/main" id="{ACC40F95-DFF6-A36B-9403-9A88F6FEC807}"/>
              </a:ext>
            </a:extLst>
          </p:cNvPr>
          <p:cNvSpPr txBox="1"/>
          <p:nvPr/>
        </p:nvSpPr>
        <p:spPr>
          <a:xfrm>
            <a:off x="5544732" y="1499456"/>
            <a:ext cx="1978669" cy="369332"/>
          </a:xfrm>
          <a:prstGeom prst="rect">
            <a:avLst/>
          </a:prstGeom>
          <a:noFill/>
        </p:spPr>
        <p:txBody>
          <a:bodyPr wrap="square" rtlCol="0">
            <a:spAutoFit/>
          </a:bodyPr>
          <a:lstStyle/>
          <a:p>
            <a:pPr algn="ctr"/>
            <a:r>
              <a:rPr lang="en-IN" dirty="0"/>
              <a:t>5V square wave </a:t>
            </a:r>
          </a:p>
        </p:txBody>
      </p:sp>
      <p:cxnSp>
        <p:nvCxnSpPr>
          <p:cNvPr id="38" name="Straight Connector 37">
            <a:extLst>
              <a:ext uri="{FF2B5EF4-FFF2-40B4-BE49-F238E27FC236}">
                <a16:creationId xmlns:a16="http://schemas.microsoft.com/office/drawing/2014/main" id="{C2EF015E-642F-4D8A-30D4-8BF45C155A75}"/>
              </a:ext>
            </a:extLst>
          </p:cNvPr>
          <p:cNvCxnSpPr/>
          <p:nvPr/>
        </p:nvCxnSpPr>
        <p:spPr>
          <a:xfrm flipV="1">
            <a:off x="7769849" y="1360491"/>
            <a:ext cx="0" cy="536956"/>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9" name="Straight Connector 38">
            <a:extLst>
              <a:ext uri="{FF2B5EF4-FFF2-40B4-BE49-F238E27FC236}">
                <a16:creationId xmlns:a16="http://schemas.microsoft.com/office/drawing/2014/main" id="{099FEA5C-7ADB-1F50-F917-7A7D2093B22D}"/>
              </a:ext>
            </a:extLst>
          </p:cNvPr>
          <p:cNvCxnSpPr/>
          <p:nvPr/>
        </p:nvCxnSpPr>
        <p:spPr>
          <a:xfrm flipV="1">
            <a:off x="8511209" y="1360491"/>
            <a:ext cx="0" cy="536956"/>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0" name="Straight Connector 39">
            <a:extLst>
              <a:ext uri="{FF2B5EF4-FFF2-40B4-BE49-F238E27FC236}">
                <a16:creationId xmlns:a16="http://schemas.microsoft.com/office/drawing/2014/main" id="{50D13DC9-E69D-C542-88B3-56FDB5397318}"/>
              </a:ext>
            </a:extLst>
          </p:cNvPr>
          <p:cNvCxnSpPr/>
          <p:nvPr/>
        </p:nvCxnSpPr>
        <p:spPr>
          <a:xfrm flipV="1">
            <a:off x="2113722" y="1858493"/>
            <a:ext cx="0" cy="536956"/>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1" name="Straight Connector 40">
            <a:extLst>
              <a:ext uri="{FF2B5EF4-FFF2-40B4-BE49-F238E27FC236}">
                <a16:creationId xmlns:a16="http://schemas.microsoft.com/office/drawing/2014/main" id="{688DCFA4-231A-D89F-5383-488BEEC9940C}"/>
              </a:ext>
            </a:extLst>
          </p:cNvPr>
          <p:cNvCxnSpPr/>
          <p:nvPr/>
        </p:nvCxnSpPr>
        <p:spPr>
          <a:xfrm flipV="1">
            <a:off x="1043609" y="1890365"/>
            <a:ext cx="0" cy="536956"/>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42" name="Straight Connector 41">
            <a:extLst>
              <a:ext uri="{FF2B5EF4-FFF2-40B4-BE49-F238E27FC236}">
                <a16:creationId xmlns:a16="http://schemas.microsoft.com/office/drawing/2014/main" id="{472B7D5D-C225-746D-585F-E552F8A22D40}"/>
              </a:ext>
            </a:extLst>
          </p:cNvPr>
          <p:cNvCxnSpPr/>
          <p:nvPr/>
        </p:nvCxnSpPr>
        <p:spPr>
          <a:xfrm flipV="1">
            <a:off x="9701880" y="1360491"/>
            <a:ext cx="0" cy="536956"/>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43" name="Straight Connector 42">
            <a:extLst>
              <a:ext uri="{FF2B5EF4-FFF2-40B4-BE49-F238E27FC236}">
                <a16:creationId xmlns:a16="http://schemas.microsoft.com/office/drawing/2014/main" id="{08E17BAB-437F-2F51-892F-B815E6B8374A}"/>
              </a:ext>
            </a:extLst>
          </p:cNvPr>
          <p:cNvCxnSpPr/>
          <p:nvPr/>
        </p:nvCxnSpPr>
        <p:spPr>
          <a:xfrm flipV="1">
            <a:off x="10214113" y="1360491"/>
            <a:ext cx="0" cy="536956"/>
          </a:xfrm>
          <a:prstGeom prst="line">
            <a:avLst/>
          </a:prstGeom>
          <a:ln>
            <a:solidFill>
              <a:schemeClr val="tx1"/>
            </a:solidFill>
          </a:ln>
        </p:spPr>
        <p:style>
          <a:lnRef idx="3">
            <a:schemeClr val="accent2"/>
          </a:lnRef>
          <a:fillRef idx="0">
            <a:schemeClr val="accent2"/>
          </a:fillRef>
          <a:effectRef idx="2">
            <a:schemeClr val="accent2"/>
          </a:effectRef>
          <a:fontRef idx="minor">
            <a:schemeClr val="tx1"/>
          </a:fontRef>
        </p:style>
      </p:cxnSp>
      <p:cxnSp>
        <p:nvCxnSpPr>
          <p:cNvPr id="45" name="Straight Connector 44">
            <a:extLst>
              <a:ext uri="{FF2B5EF4-FFF2-40B4-BE49-F238E27FC236}">
                <a16:creationId xmlns:a16="http://schemas.microsoft.com/office/drawing/2014/main" id="{E888B28D-F626-F9D8-AC78-D11F6C01CAA5}"/>
              </a:ext>
            </a:extLst>
          </p:cNvPr>
          <p:cNvCxnSpPr/>
          <p:nvPr/>
        </p:nvCxnSpPr>
        <p:spPr>
          <a:xfrm>
            <a:off x="839856" y="1888932"/>
            <a:ext cx="407505" cy="0"/>
          </a:xfrm>
          <a:prstGeom prst="line">
            <a:avLst/>
          </a:prstGeom>
          <a:ln>
            <a:solidFill>
              <a:srgbClr val="FF0000"/>
            </a:solidFill>
          </a:ln>
        </p:spPr>
        <p:style>
          <a:lnRef idx="3">
            <a:schemeClr val="accent4"/>
          </a:lnRef>
          <a:fillRef idx="0">
            <a:schemeClr val="accent4"/>
          </a:fillRef>
          <a:effectRef idx="2">
            <a:schemeClr val="accent4"/>
          </a:effectRef>
          <a:fontRef idx="minor">
            <a:schemeClr val="tx1"/>
          </a:fontRef>
        </p:style>
      </p:cxnSp>
      <p:cxnSp>
        <p:nvCxnSpPr>
          <p:cNvPr id="46" name="Straight Connector 45">
            <a:extLst>
              <a:ext uri="{FF2B5EF4-FFF2-40B4-BE49-F238E27FC236}">
                <a16:creationId xmlns:a16="http://schemas.microsoft.com/office/drawing/2014/main" id="{C8084C15-8CC6-1A6B-C9CE-E0AD48B1FB72}"/>
              </a:ext>
            </a:extLst>
          </p:cNvPr>
          <p:cNvCxnSpPr/>
          <p:nvPr/>
        </p:nvCxnSpPr>
        <p:spPr>
          <a:xfrm>
            <a:off x="1909969" y="1846177"/>
            <a:ext cx="407505" cy="0"/>
          </a:xfrm>
          <a:prstGeom prst="line">
            <a:avLst/>
          </a:prstGeom>
          <a:ln>
            <a:solidFill>
              <a:schemeClr val="tx1"/>
            </a:solidFill>
          </a:ln>
        </p:spPr>
        <p:style>
          <a:lnRef idx="3">
            <a:schemeClr val="accent4"/>
          </a:lnRef>
          <a:fillRef idx="0">
            <a:schemeClr val="accent4"/>
          </a:fillRef>
          <a:effectRef idx="2">
            <a:schemeClr val="accent4"/>
          </a:effectRef>
          <a:fontRef idx="minor">
            <a:schemeClr val="tx1"/>
          </a:fontRef>
        </p:style>
      </p:cxnSp>
      <p:cxnSp>
        <p:nvCxnSpPr>
          <p:cNvPr id="47" name="Straight Connector 46">
            <a:extLst>
              <a:ext uri="{FF2B5EF4-FFF2-40B4-BE49-F238E27FC236}">
                <a16:creationId xmlns:a16="http://schemas.microsoft.com/office/drawing/2014/main" id="{9DCB0674-023A-D901-BF77-8AE58F46DE8D}"/>
              </a:ext>
            </a:extLst>
          </p:cNvPr>
          <p:cNvCxnSpPr/>
          <p:nvPr/>
        </p:nvCxnSpPr>
        <p:spPr>
          <a:xfrm>
            <a:off x="7573616" y="1370316"/>
            <a:ext cx="407505" cy="0"/>
          </a:xfrm>
          <a:prstGeom prst="line">
            <a:avLst/>
          </a:prstGeom>
          <a:ln>
            <a:solidFill>
              <a:srgbClr val="FF0000"/>
            </a:solidFill>
          </a:ln>
        </p:spPr>
        <p:style>
          <a:lnRef idx="3">
            <a:schemeClr val="accent4"/>
          </a:lnRef>
          <a:fillRef idx="0">
            <a:schemeClr val="accent4"/>
          </a:fillRef>
          <a:effectRef idx="2">
            <a:schemeClr val="accent4"/>
          </a:effectRef>
          <a:fontRef idx="minor">
            <a:schemeClr val="tx1"/>
          </a:fontRef>
        </p:style>
      </p:cxnSp>
      <p:cxnSp>
        <p:nvCxnSpPr>
          <p:cNvPr id="48" name="Straight Connector 47">
            <a:extLst>
              <a:ext uri="{FF2B5EF4-FFF2-40B4-BE49-F238E27FC236}">
                <a16:creationId xmlns:a16="http://schemas.microsoft.com/office/drawing/2014/main" id="{DFE23431-5EB2-DF13-F521-2D0B2F453191}"/>
              </a:ext>
            </a:extLst>
          </p:cNvPr>
          <p:cNvCxnSpPr/>
          <p:nvPr/>
        </p:nvCxnSpPr>
        <p:spPr>
          <a:xfrm>
            <a:off x="8307312" y="1360491"/>
            <a:ext cx="407505" cy="0"/>
          </a:xfrm>
          <a:prstGeom prst="line">
            <a:avLst/>
          </a:prstGeom>
          <a:ln>
            <a:solidFill>
              <a:schemeClr val="tx1"/>
            </a:solidFill>
          </a:ln>
        </p:spPr>
        <p:style>
          <a:lnRef idx="3">
            <a:schemeClr val="accent4"/>
          </a:lnRef>
          <a:fillRef idx="0">
            <a:schemeClr val="accent4"/>
          </a:fillRef>
          <a:effectRef idx="2">
            <a:schemeClr val="accent4"/>
          </a:effectRef>
          <a:fontRef idx="minor">
            <a:schemeClr val="tx1"/>
          </a:fontRef>
        </p:style>
      </p:cxnSp>
      <p:cxnSp>
        <p:nvCxnSpPr>
          <p:cNvPr id="49" name="Straight Connector 48">
            <a:extLst>
              <a:ext uri="{FF2B5EF4-FFF2-40B4-BE49-F238E27FC236}">
                <a16:creationId xmlns:a16="http://schemas.microsoft.com/office/drawing/2014/main" id="{5CF5F638-607A-54C5-6EF9-85DADF0FB5B4}"/>
              </a:ext>
            </a:extLst>
          </p:cNvPr>
          <p:cNvCxnSpPr/>
          <p:nvPr/>
        </p:nvCxnSpPr>
        <p:spPr>
          <a:xfrm>
            <a:off x="9520484" y="1353409"/>
            <a:ext cx="407505" cy="0"/>
          </a:xfrm>
          <a:prstGeom prst="line">
            <a:avLst/>
          </a:prstGeom>
          <a:ln>
            <a:solidFill>
              <a:srgbClr val="FF0000"/>
            </a:solidFill>
          </a:ln>
        </p:spPr>
        <p:style>
          <a:lnRef idx="3">
            <a:schemeClr val="accent4"/>
          </a:lnRef>
          <a:fillRef idx="0">
            <a:schemeClr val="accent4"/>
          </a:fillRef>
          <a:effectRef idx="2">
            <a:schemeClr val="accent4"/>
          </a:effectRef>
          <a:fontRef idx="minor">
            <a:schemeClr val="tx1"/>
          </a:fontRef>
        </p:style>
      </p:cxnSp>
      <p:cxnSp>
        <p:nvCxnSpPr>
          <p:cNvPr id="50" name="Straight Connector 49">
            <a:extLst>
              <a:ext uri="{FF2B5EF4-FFF2-40B4-BE49-F238E27FC236}">
                <a16:creationId xmlns:a16="http://schemas.microsoft.com/office/drawing/2014/main" id="{2ABC4781-7361-E762-AFB5-BA187EFCABD9}"/>
              </a:ext>
            </a:extLst>
          </p:cNvPr>
          <p:cNvCxnSpPr/>
          <p:nvPr/>
        </p:nvCxnSpPr>
        <p:spPr>
          <a:xfrm>
            <a:off x="10010360" y="1353409"/>
            <a:ext cx="407505" cy="0"/>
          </a:xfrm>
          <a:prstGeom prst="line">
            <a:avLst/>
          </a:prstGeom>
          <a:ln>
            <a:solidFill>
              <a:schemeClr val="tx1"/>
            </a:solidFill>
          </a:ln>
        </p:spPr>
        <p:style>
          <a:lnRef idx="3">
            <a:schemeClr val="accent4"/>
          </a:lnRef>
          <a:fillRef idx="0">
            <a:schemeClr val="accent4"/>
          </a:fillRef>
          <a:effectRef idx="2">
            <a:schemeClr val="accent4"/>
          </a:effectRef>
          <a:fontRef idx="minor">
            <a:schemeClr val="tx1"/>
          </a:fontRef>
        </p:style>
      </p:cxnSp>
      <p:cxnSp>
        <p:nvCxnSpPr>
          <p:cNvPr id="52" name="Straight Arrow Connector 51">
            <a:extLst>
              <a:ext uri="{FF2B5EF4-FFF2-40B4-BE49-F238E27FC236}">
                <a16:creationId xmlns:a16="http://schemas.microsoft.com/office/drawing/2014/main" id="{BEAFE610-D50A-894B-ED51-EA5BF660606B}"/>
              </a:ext>
            </a:extLst>
          </p:cNvPr>
          <p:cNvCxnSpPr>
            <a:stCxn id="9" idx="2"/>
          </p:cNvCxnSpPr>
          <p:nvPr/>
        </p:nvCxnSpPr>
        <p:spPr>
          <a:xfrm>
            <a:off x="1582723" y="3955655"/>
            <a:ext cx="4339" cy="555022"/>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53" name="TextBox 52">
            <a:extLst>
              <a:ext uri="{FF2B5EF4-FFF2-40B4-BE49-F238E27FC236}">
                <a16:creationId xmlns:a16="http://schemas.microsoft.com/office/drawing/2014/main" id="{64D4DE65-7394-3541-262E-11925CAC65D3}"/>
              </a:ext>
            </a:extLst>
          </p:cNvPr>
          <p:cNvSpPr txBox="1"/>
          <p:nvPr/>
        </p:nvSpPr>
        <p:spPr>
          <a:xfrm>
            <a:off x="4276272" y="4266393"/>
            <a:ext cx="1978669" cy="646331"/>
          </a:xfrm>
          <a:prstGeom prst="rect">
            <a:avLst/>
          </a:prstGeom>
          <a:noFill/>
        </p:spPr>
        <p:txBody>
          <a:bodyPr wrap="square" rtlCol="0">
            <a:spAutoFit/>
          </a:bodyPr>
          <a:lstStyle/>
          <a:p>
            <a:pPr algn="ctr"/>
            <a:r>
              <a:rPr lang="en-IN" dirty="0"/>
              <a:t>Voltage Level Translators </a:t>
            </a:r>
          </a:p>
        </p:txBody>
      </p:sp>
      <p:sp>
        <p:nvSpPr>
          <p:cNvPr id="54" name="TextBox 53">
            <a:extLst>
              <a:ext uri="{FF2B5EF4-FFF2-40B4-BE49-F238E27FC236}">
                <a16:creationId xmlns:a16="http://schemas.microsoft.com/office/drawing/2014/main" id="{F1479C03-AE8F-64E4-0E99-4FFA8EF3509F}"/>
              </a:ext>
            </a:extLst>
          </p:cNvPr>
          <p:cNvSpPr txBox="1"/>
          <p:nvPr/>
        </p:nvSpPr>
        <p:spPr>
          <a:xfrm rot="5400000">
            <a:off x="10911165" y="3002990"/>
            <a:ext cx="1978669" cy="369332"/>
          </a:xfrm>
          <a:prstGeom prst="rect">
            <a:avLst/>
          </a:prstGeom>
          <a:noFill/>
        </p:spPr>
        <p:txBody>
          <a:bodyPr wrap="square" rtlCol="0">
            <a:spAutoFit/>
          </a:bodyPr>
          <a:lstStyle/>
          <a:p>
            <a:pPr algn="ctr"/>
            <a:r>
              <a:rPr lang="en-IN" dirty="0"/>
              <a:t>Loop back</a:t>
            </a:r>
          </a:p>
        </p:txBody>
      </p:sp>
      <p:sp>
        <p:nvSpPr>
          <p:cNvPr id="55" name="TextBox 54">
            <a:extLst>
              <a:ext uri="{FF2B5EF4-FFF2-40B4-BE49-F238E27FC236}">
                <a16:creationId xmlns:a16="http://schemas.microsoft.com/office/drawing/2014/main" id="{4FFCDB32-7C9F-6A2F-BE1A-A298D2DC1B88}"/>
              </a:ext>
            </a:extLst>
          </p:cNvPr>
          <p:cNvSpPr txBox="1"/>
          <p:nvPr/>
        </p:nvSpPr>
        <p:spPr>
          <a:xfrm>
            <a:off x="1752290" y="1546511"/>
            <a:ext cx="1106557" cy="369332"/>
          </a:xfrm>
          <a:prstGeom prst="rect">
            <a:avLst/>
          </a:prstGeom>
          <a:noFill/>
        </p:spPr>
        <p:txBody>
          <a:bodyPr wrap="square" rtlCol="0">
            <a:spAutoFit/>
          </a:bodyPr>
          <a:lstStyle/>
          <a:p>
            <a:r>
              <a:rPr lang="en-IN" dirty="0"/>
              <a:t>GND1</a:t>
            </a:r>
          </a:p>
        </p:txBody>
      </p:sp>
      <p:sp>
        <p:nvSpPr>
          <p:cNvPr id="56" name="TextBox 55">
            <a:extLst>
              <a:ext uri="{FF2B5EF4-FFF2-40B4-BE49-F238E27FC236}">
                <a16:creationId xmlns:a16="http://schemas.microsoft.com/office/drawing/2014/main" id="{F8BF2E1B-E5FD-4C4B-9539-A38E5503DBF4}"/>
              </a:ext>
            </a:extLst>
          </p:cNvPr>
          <p:cNvSpPr txBox="1"/>
          <p:nvPr/>
        </p:nvSpPr>
        <p:spPr>
          <a:xfrm>
            <a:off x="668325" y="1585355"/>
            <a:ext cx="1106557" cy="369332"/>
          </a:xfrm>
          <a:prstGeom prst="rect">
            <a:avLst/>
          </a:prstGeom>
          <a:noFill/>
        </p:spPr>
        <p:txBody>
          <a:bodyPr wrap="square" rtlCol="0">
            <a:spAutoFit/>
          </a:bodyPr>
          <a:lstStyle/>
          <a:p>
            <a:r>
              <a:rPr lang="en-IN" dirty="0"/>
              <a:t>+3.3V</a:t>
            </a:r>
          </a:p>
        </p:txBody>
      </p:sp>
      <p:sp>
        <p:nvSpPr>
          <p:cNvPr id="57" name="TextBox 56">
            <a:extLst>
              <a:ext uri="{FF2B5EF4-FFF2-40B4-BE49-F238E27FC236}">
                <a16:creationId xmlns:a16="http://schemas.microsoft.com/office/drawing/2014/main" id="{AE9A0824-364E-38AA-7673-83D9AC5AD163}"/>
              </a:ext>
            </a:extLst>
          </p:cNvPr>
          <p:cNvSpPr txBox="1"/>
          <p:nvPr/>
        </p:nvSpPr>
        <p:spPr>
          <a:xfrm>
            <a:off x="7490003" y="1052256"/>
            <a:ext cx="1106557" cy="369332"/>
          </a:xfrm>
          <a:prstGeom prst="rect">
            <a:avLst/>
          </a:prstGeom>
          <a:noFill/>
        </p:spPr>
        <p:txBody>
          <a:bodyPr wrap="square" rtlCol="0">
            <a:spAutoFit/>
          </a:bodyPr>
          <a:lstStyle/>
          <a:p>
            <a:r>
              <a:rPr lang="en-IN" dirty="0"/>
              <a:t>+5V</a:t>
            </a:r>
          </a:p>
        </p:txBody>
      </p:sp>
      <p:sp>
        <p:nvSpPr>
          <p:cNvPr id="58" name="TextBox 57">
            <a:extLst>
              <a:ext uri="{FF2B5EF4-FFF2-40B4-BE49-F238E27FC236}">
                <a16:creationId xmlns:a16="http://schemas.microsoft.com/office/drawing/2014/main" id="{BC7D88B5-88A1-8256-3970-C58F3DFB11DC}"/>
              </a:ext>
            </a:extLst>
          </p:cNvPr>
          <p:cNvSpPr txBox="1"/>
          <p:nvPr/>
        </p:nvSpPr>
        <p:spPr>
          <a:xfrm>
            <a:off x="9457081" y="1047123"/>
            <a:ext cx="553279" cy="369332"/>
          </a:xfrm>
          <a:prstGeom prst="rect">
            <a:avLst/>
          </a:prstGeom>
          <a:noFill/>
        </p:spPr>
        <p:txBody>
          <a:bodyPr wrap="square" rtlCol="0">
            <a:spAutoFit/>
          </a:bodyPr>
          <a:lstStyle/>
          <a:p>
            <a:r>
              <a:rPr lang="en-IN" dirty="0"/>
              <a:t>+5V</a:t>
            </a:r>
          </a:p>
        </p:txBody>
      </p:sp>
      <p:sp>
        <p:nvSpPr>
          <p:cNvPr id="59" name="TextBox 58">
            <a:extLst>
              <a:ext uri="{FF2B5EF4-FFF2-40B4-BE49-F238E27FC236}">
                <a16:creationId xmlns:a16="http://schemas.microsoft.com/office/drawing/2014/main" id="{29740DC9-7131-F54F-724D-29CEEA582FEB}"/>
              </a:ext>
            </a:extLst>
          </p:cNvPr>
          <p:cNvSpPr txBox="1"/>
          <p:nvPr/>
        </p:nvSpPr>
        <p:spPr>
          <a:xfrm>
            <a:off x="8165930" y="1047123"/>
            <a:ext cx="1106557" cy="369332"/>
          </a:xfrm>
          <a:prstGeom prst="rect">
            <a:avLst/>
          </a:prstGeom>
          <a:noFill/>
        </p:spPr>
        <p:txBody>
          <a:bodyPr wrap="square" rtlCol="0">
            <a:spAutoFit/>
          </a:bodyPr>
          <a:lstStyle/>
          <a:p>
            <a:r>
              <a:rPr lang="en-IN" dirty="0"/>
              <a:t>GND1</a:t>
            </a:r>
          </a:p>
        </p:txBody>
      </p:sp>
      <p:sp>
        <p:nvSpPr>
          <p:cNvPr id="60" name="TextBox 59">
            <a:extLst>
              <a:ext uri="{FF2B5EF4-FFF2-40B4-BE49-F238E27FC236}">
                <a16:creationId xmlns:a16="http://schemas.microsoft.com/office/drawing/2014/main" id="{FCB9F18C-C9A0-1C60-8DA0-15376443BD53}"/>
              </a:ext>
            </a:extLst>
          </p:cNvPr>
          <p:cNvSpPr txBox="1"/>
          <p:nvPr/>
        </p:nvSpPr>
        <p:spPr>
          <a:xfrm>
            <a:off x="9885245" y="1034835"/>
            <a:ext cx="1106557" cy="369332"/>
          </a:xfrm>
          <a:prstGeom prst="rect">
            <a:avLst/>
          </a:prstGeom>
          <a:noFill/>
        </p:spPr>
        <p:txBody>
          <a:bodyPr wrap="square" rtlCol="0">
            <a:spAutoFit/>
          </a:bodyPr>
          <a:lstStyle/>
          <a:p>
            <a:r>
              <a:rPr lang="en-IN" dirty="0"/>
              <a:t>GND2</a:t>
            </a:r>
          </a:p>
        </p:txBody>
      </p:sp>
      <p:sp>
        <p:nvSpPr>
          <p:cNvPr id="61" name="TextBox 60">
            <a:extLst>
              <a:ext uri="{FF2B5EF4-FFF2-40B4-BE49-F238E27FC236}">
                <a16:creationId xmlns:a16="http://schemas.microsoft.com/office/drawing/2014/main" id="{3351388F-E7BB-2996-83AE-A63DC5813668}"/>
              </a:ext>
            </a:extLst>
          </p:cNvPr>
          <p:cNvSpPr txBox="1"/>
          <p:nvPr/>
        </p:nvSpPr>
        <p:spPr>
          <a:xfrm>
            <a:off x="593388" y="4493738"/>
            <a:ext cx="1978669" cy="369332"/>
          </a:xfrm>
          <a:prstGeom prst="rect">
            <a:avLst/>
          </a:prstGeom>
          <a:noFill/>
        </p:spPr>
        <p:txBody>
          <a:bodyPr wrap="square" rtlCol="0">
            <a:spAutoFit/>
          </a:bodyPr>
          <a:lstStyle/>
          <a:p>
            <a:pPr algn="ctr"/>
            <a:r>
              <a:rPr lang="en-IN" dirty="0"/>
              <a:t>LED output </a:t>
            </a:r>
          </a:p>
        </p:txBody>
      </p:sp>
      <p:sp>
        <p:nvSpPr>
          <p:cNvPr id="62" name="TextBox 61">
            <a:extLst>
              <a:ext uri="{FF2B5EF4-FFF2-40B4-BE49-F238E27FC236}">
                <a16:creationId xmlns:a16="http://schemas.microsoft.com/office/drawing/2014/main" id="{48ECBCE6-68A9-7069-1CE0-648FD9282D8F}"/>
              </a:ext>
            </a:extLst>
          </p:cNvPr>
          <p:cNvSpPr txBox="1"/>
          <p:nvPr/>
        </p:nvSpPr>
        <p:spPr>
          <a:xfrm>
            <a:off x="4258345" y="5433658"/>
            <a:ext cx="3993191" cy="707886"/>
          </a:xfrm>
          <a:prstGeom prst="rect">
            <a:avLst/>
          </a:prstGeom>
          <a:noFill/>
          <a:ln w="19050">
            <a:solidFill>
              <a:srgbClr val="FF0000"/>
            </a:solidFill>
          </a:ln>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LED lights up if there is mismatch in sent and received data (bit-miss)</a:t>
            </a:r>
          </a:p>
        </p:txBody>
      </p:sp>
    </p:spTree>
    <p:extLst>
      <p:ext uri="{BB962C8B-B14F-4D97-AF65-F5344CB8AC3E}">
        <p14:creationId xmlns:p14="http://schemas.microsoft.com/office/powerpoint/2010/main" val="1897370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3622F-9614-1132-E11D-48510D6F5CF8}"/>
              </a:ext>
            </a:extLst>
          </p:cNvPr>
          <p:cNvSpPr>
            <a:spLocks noGrp="1"/>
          </p:cNvSpPr>
          <p:nvPr>
            <p:ph type="title"/>
          </p:nvPr>
        </p:nvSpPr>
        <p:spPr>
          <a:xfrm>
            <a:off x="838199" y="0"/>
            <a:ext cx="10515600" cy="1325563"/>
          </a:xfrm>
        </p:spPr>
        <p:txBody>
          <a:bodyPr/>
          <a:lstStyle/>
          <a:p>
            <a:pPr algn="ctr"/>
            <a:r>
              <a:rPr lang="en-IN" dirty="0">
                <a:latin typeface="Times New Roman" panose="02020603050405020304" pitchFamily="18" charset="0"/>
                <a:cs typeface="Times New Roman" panose="02020603050405020304" pitchFamily="18" charset="0"/>
              </a:rPr>
              <a:t>	Proposed Testing Procedure</a:t>
            </a:r>
          </a:p>
        </p:txBody>
      </p:sp>
      <p:sp>
        <p:nvSpPr>
          <p:cNvPr id="3" name="Content Placeholder 2">
            <a:extLst>
              <a:ext uri="{FF2B5EF4-FFF2-40B4-BE49-F238E27FC236}">
                <a16:creationId xmlns:a16="http://schemas.microsoft.com/office/drawing/2014/main" id="{B1743293-4302-213A-55FD-EBC30C0DE504}"/>
              </a:ext>
            </a:extLst>
          </p:cNvPr>
          <p:cNvSpPr>
            <a:spLocks noGrp="1"/>
          </p:cNvSpPr>
          <p:nvPr>
            <p:ph idx="1"/>
          </p:nvPr>
        </p:nvSpPr>
        <p:spPr>
          <a:xfrm>
            <a:off x="838199" y="1350611"/>
            <a:ext cx="10515600" cy="4159201"/>
          </a:xfrm>
        </p:spPr>
        <p:txBody>
          <a:bodyPr>
            <a:noAutofit/>
          </a:bodyPr>
          <a:lstStyle/>
          <a:p>
            <a:r>
              <a:rPr lang="en-US" sz="2000" b="1" dirty="0">
                <a:latin typeface="Times New Roman" panose="02020603050405020304" pitchFamily="18" charset="0"/>
                <a:cs typeface="Times New Roman" panose="02020603050405020304" pitchFamily="18" charset="0"/>
              </a:rPr>
              <a:t>Setup:</a:t>
            </a:r>
            <a:r>
              <a:rPr lang="en-US" sz="2000" dirty="0">
                <a:latin typeface="Times New Roman" panose="02020603050405020304" pitchFamily="18" charset="0"/>
                <a:cs typeface="Times New Roman" panose="02020603050405020304" pitchFamily="18" charset="0"/>
              </a:rPr>
              <a:t> Place DUT in anechoic chamber, power via isolated battery/LDO; connect data through optical–electrical converters.</a:t>
            </a:r>
          </a:p>
          <a:p>
            <a:r>
              <a:rPr lang="en-US" sz="2000" b="1" dirty="0">
                <a:latin typeface="Times New Roman" panose="02020603050405020304" pitchFamily="18" charset="0"/>
                <a:cs typeface="Times New Roman" panose="02020603050405020304" pitchFamily="18" charset="0"/>
              </a:rPr>
              <a:t>Calibration:</a:t>
            </a:r>
            <a:r>
              <a:rPr lang="en-US" sz="2000" dirty="0">
                <a:latin typeface="Times New Roman" panose="02020603050405020304" pitchFamily="18" charset="0"/>
                <a:cs typeface="Times New Roman" panose="02020603050405020304" pitchFamily="18" charset="0"/>
              </a:rPr>
              <a:t> Establish reference data pattern (PRBS) and calibrate RF field strength at DUT location.</a:t>
            </a:r>
          </a:p>
          <a:p>
            <a:r>
              <a:rPr lang="en-US" sz="2000" b="1" dirty="0">
                <a:latin typeface="Times New Roman" panose="02020603050405020304" pitchFamily="18" charset="0"/>
                <a:cs typeface="Times New Roman" panose="02020603050405020304" pitchFamily="18" charset="0"/>
              </a:rPr>
              <a:t>Exposure:</a:t>
            </a:r>
            <a:r>
              <a:rPr lang="en-US" sz="2000" dirty="0">
                <a:latin typeface="Times New Roman" panose="02020603050405020304" pitchFamily="18" charset="0"/>
                <a:cs typeface="Times New Roman" panose="02020603050405020304" pitchFamily="18" charset="0"/>
              </a:rPr>
              <a:t> Sweep 1GHz–6 GHz with @ 100MHz; apply required field strength levels. At this time input data is being transferred inside the anechoic chamber at 100Mbps </a:t>
            </a:r>
          </a:p>
          <a:p>
            <a:r>
              <a:rPr lang="en-US" sz="2000" b="1" dirty="0">
                <a:latin typeface="Times New Roman" panose="02020603050405020304" pitchFamily="18" charset="0"/>
                <a:cs typeface="Times New Roman" panose="02020603050405020304" pitchFamily="18" charset="0"/>
              </a:rPr>
              <a:t>Monitoring:</a:t>
            </a:r>
            <a:r>
              <a:rPr lang="en-US" sz="2000" dirty="0">
                <a:latin typeface="Times New Roman" panose="02020603050405020304" pitchFamily="18" charset="0"/>
                <a:cs typeface="Times New Roman" panose="02020603050405020304" pitchFamily="18" charset="0"/>
              </a:rPr>
              <a:t> Continuously check received data for bit errors, glitches, or link loss.</a:t>
            </a:r>
          </a:p>
          <a:p>
            <a:r>
              <a:rPr lang="en-US" sz="2000" b="1" dirty="0">
                <a:latin typeface="Times New Roman" panose="02020603050405020304" pitchFamily="18" charset="0"/>
                <a:cs typeface="Times New Roman" panose="02020603050405020304" pitchFamily="18" charset="0"/>
              </a:rPr>
              <a:t>Evaluation:</a:t>
            </a:r>
            <a:r>
              <a:rPr lang="en-US" sz="2000" dirty="0">
                <a:latin typeface="Times New Roman" panose="02020603050405020304" pitchFamily="18" charset="0"/>
                <a:cs typeface="Times New Roman" panose="02020603050405020304" pitchFamily="18" charset="0"/>
              </a:rPr>
              <a:t> Classify immunity per IEC criteria (A–D) and document failure thresholds. Set up related triggers for glitch detection.</a:t>
            </a:r>
            <a:endParaRPr lang="en-IN" sz="2000"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0E60E793-8F93-B842-2AD3-8BEE71F921D4}"/>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E397D176-2A29-FAE0-5880-30E9ECDDFF56}"/>
              </a:ext>
            </a:extLst>
          </p:cNvPr>
          <p:cNvSpPr/>
          <p:nvPr/>
        </p:nvSpPr>
        <p:spPr>
          <a:xfrm>
            <a:off x="-103239" y="6619653"/>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DCF455DF-4C47-1077-87E1-35A9C13E096A}"/>
              </a:ext>
            </a:extLst>
          </p:cNvPr>
          <p:cNvSpPr>
            <a:spLocks noGrp="1"/>
          </p:cNvSpPr>
          <p:nvPr>
            <p:ph type="sldNum" sz="quarter" idx="12"/>
          </p:nvPr>
        </p:nvSpPr>
        <p:spPr/>
        <p:txBody>
          <a:bodyPr/>
          <a:lstStyle/>
          <a:p>
            <a:fld id="{D35EF2C4-5B37-4EC4-92A6-F918E903B68D}" type="slidenum">
              <a:rPr lang="en-IN" smtClean="0"/>
              <a:t>9</a:t>
            </a:fld>
            <a:endParaRPr lang="en-IN"/>
          </a:p>
        </p:txBody>
      </p:sp>
    </p:spTree>
    <p:extLst>
      <p:ext uri="{BB962C8B-B14F-4D97-AF65-F5344CB8AC3E}">
        <p14:creationId xmlns:p14="http://schemas.microsoft.com/office/powerpoint/2010/main" val="3358528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CF95CD9-5E17-A7FE-9465-E9D00B5DA4DB}"/>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68E90905-F42B-719D-D86B-18D437B30406}"/>
              </a:ext>
            </a:extLst>
          </p:cNvPr>
          <p:cNvSpPr/>
          <p:nvPr/>
        </p:nvSpPr>
        <p:spPr>
          <a:xfrm>
            <a:off x="-103239" y="6646455"/>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Slide Number Placeholder 13">
            <a:extLst>
              <a:ext uri="{FF2B5EF4-FFF2-40B4-BE49-F238E27FC236}">
                <a16:creationId xmlns:a16="http://schemas.microsoft.com/office/drawing/2014/main" id="{393901A3-BF47-133E-3E59-18B85F61E37E}"/>
              </a:ext>
            </a:extLst>
          </p:cNvPr>
          <p:cNvSpPr>
            <a:spLocks noGrp="1"/>
          </p:cNvSpPr>
          <p:nvPr>
            <p:ph type="sldNum" sz="quarter" idx="12"/>
          </p:nvPr>
        </p:nvSpPr>
        <p:spPr/>
        <p:txBody>
          <a:bodyPr/>
          <a:lstStyle/>
          <a:p>
            <a:fld id="{D35EF2C4-5B37-4EC4-92A6-F918E903B68D}" type="slidenum">
              <a:rPr lang="en-IN" smtClean="0"/>
              <a:t>10</a:t>
            </a:fld>
            <a:endParaRPr lang="en-IN"/>
          </a:p>
        </p:txBody>
      </p:sp>
      <p:sp>
        <p:nvSpPr>
          <p:cNvPr id="17" name="Title 1">
            <a:extLst>
              <a:ext uri="{FF2B5EF4-FFF2-40B4-BE49-F238E27FC236}">
                <a16:creationId xmlns:a16="http://schemas.microsoft.com/office/drawing/2014/main" id="{C069BB37-F447-7347-22F2-7D884F2DB980}"/>
              </a:ext>
            </a:extLst>
          </p:cNvPr>
          <p:cNvSpPr>
            <a:spLocks noGrp="1"/>
          </p:cNvSpPr>
          <p:nvPr>
            <p:ph type="title"/>
          </p:nvPr>
        </p:nvSpPr>
        <p:spPr>
          <a:xfrm>
            <a:off x="1104063" y="871"/>
            <a:ext cx="9969222" cy="662320"/>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Block Diagram of new setup</a:t>
            </a:r>
          </a:p>
        </p:txBody>
      </p:sp>
      <p:pic>
        <p:nvPicPr>
          <p:cNvPr id="3" name="Picture 2">
            <a:extLst>
              <a:ext uri="{FF2B5EF4-FFF2-40B4-BE49-F238E27FC236}">
                <a16:creationId xmlns:a16="http://schemas.microsoft.com/office/drawing/2014/main" id="{BE342CAE-1B0B-0FFE-DF4C-6A5573A0F0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138419" y="-1833986"/>
            <a:ext cx="5686563" cy="10744201"/>
          </a:xfrm>
          <a:prstGeom prst="rect">
            <a:avLst/>
          </a:prstGeom>
        </p:spPr>
      </p:pic>
    </p:spTree>
    <p:extLst>
      <p:ext uri="{BB962C8B-B14F-4D97-AF65-F5344CB8AC3E}">
        <p14:creationId xmlns:p14="http://schemas.microsoft.com/office/powerpoint/2010/main" val="515631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CC799-EF12-B737-DD58-E9478FCE12D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368D9A-1283-EE57-186B-6CD8B95CA05C}"/>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4B86EDF8-6AE7-DBAE-E755-0FA8CD8B71CE}"/>
              </a:ext>
            </a:extLst>
          </p:cNvPr>
          <p:cNvSpPr/>
          <p:nvPr/>
        </p:nvSpPr>
        <p:spPr>
          <a:xfrm>
            <a:off x="-103239" y="6646455"/>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Slide Number Placeholder 13">
            <a:extLst>
              <a:ext uri="{FF2B5EF4-FFF2-40B4-BE49-F238E27FC236}">
                <a16:creationId xmlns:a16="http://schemas.microsoft.com/office/drawing/2014/main" id="{E8D05D45-3576-BB7C-5A13-43F12537B67F}"/>
              </a:ext>
            </a:extLst>
          </p:cNvPr>
          <p:cNvSpPr>
            <a:spLocks noGrp="1"/>
          </p:cNvSpPr>
          <p:nvPr>
            <p:ph type="sldNum" sz="quarter" idx="12"/>
          </p:nvPr>
        </p:nvSpPr>
        <p:spPr/>
        <p:txBody>
          <a:bodyPr/>
          <a:lstStyle/>
          <a:p>
            <a:fld id="{D35EF2C4-5B37-4EC4-92A6-F918E903B68D}" type="slidenum">
              <a:rPr lang="en-IN" smtClean="0"/>
              <a:t>11</a:t>
            </a:fld>
            <a:endParaRPr lang="en-IN"/>
          </a:p>
        </p:txBody>
      </p:sp>
      <p:sp>
        <p:nvSpPr>
          <p:cNvPr id="17" name="Title 1">
            <a:extLst>
              <a:ext uri="{FF2B5EF4-FFF2-40B4-BE49-F238E27FC236}">
                <a16:creationId xmlns:a16="http://schemas.microsoft.com/office/drawing/2014/main" id="{07EC8E79-CCBA-5835-8AC3-43E2C8E88F06}"/>
              </a:ext>
            </a:extLst>
          </p:cNvPr>
          <p:cNvSpPr>
            <a:spLocks noGrp="1"/>
          </p:cNvSpPr>
          <p:nvPr>
            <p:ph type="title"/>
          </p:nvPr>
        </p:nvSpPr>
        <p:spPr>
          <a:xfrm>
            <a:off x="1111388" y="221338"/>
            <a:ext cx="9969222" cy="662320"/>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Test setup images</a:t>
            </a:r>
          </a:p>
        </p:txBody>
      </p:sp>
      <p:pic>
        <p:nvPicPr>
          <p:cNvPr id="6" name="Picture 5">
            <a:extLst>
              <a:ext uri="{FF2B5EF4-FFF2-40B4-BE49-F238E27FC236}">
                <a16:creationId xmlns:a16="http://schemas.microsoft.com/office/drawing/2014/main" id="{397EE4CA-FA38-D772-65C2-D65125621C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035" y="883657"/>
            <a:ext cx="3085632" cy="5204933"/>
          </a:xfrm>
          <a:prstGeom prst="rect">
            <a:avLst/>
          </a:prstGeom>
        </p:spPr>
      </p:pic>
      <p:pic>
        <p:nvPicPr>
          <p:cNvPr id="8" name="Picture 7">
            <a:extLst>
              <a:ext uri="{FF2B5EF4-FFF2-40B4-BE49-F238E27FC236}">
                <a16:creationId xmlns:a16="http://schemas.microsoft.com/office/drawing/2014/main" id="{CC2F79E6-B0FB-6AF0-177B-21AD91026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1200" y="1144652"/>
            <a:ext cx="8325232" cy="4682943"/>
          </a:xfrm>
          <a:prstGeom prst="rect">
            <a:avLst/>
          </a:prstGeom>
        </p:spPr>
      </p:pic>
    </p:spTree>
    <p:extLst>
      <p:ext uri="{BB962C8B-B14F-4D97-AF65-F5344CB8AC3E}">
        <p14:creationId xmlns:p14="http://schemas.microsoft.com/office/powerpoint/2010/main" val="2878360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FF558-24F1-8C49-D1A7-3C17CC4BB0A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AE15C3E-24E0-B93F-8B17-FCB78E6726C5}"/>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27BB9F2-A94E-D45C-E16B-673384D1ABD5}"/>
              </a:ext>
            </a:extLst>
          </p:cNvPr>
          <p:cNvSpPr/>
          <p:nvPr/>
        </p:nvSpPr>
        <p:spPr>
          <a:xfrm>
            <a:off x="-103239" y="6646455"/>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Slide Number Placeholder 13">
            <a:extLst>
              <a:ext uri="{FF2B5EF4-FFF2-40B4-BE49-F238E27FC236}">
                <a16:creationId xmlns:a16="http://schemas.microsoft.com/office/drawing/2014/main" id="{31E0D9DC-A875-17BD-C817-108702C1B7A9}"/>
              </a:ext>
            </a:extLst>
          </p:cNvPr>
          <p:cNvSpPr>
            <a:spLocks noGrp="1"/>
          </p:cNvSpPr>
          <p:nvPr>
            <p:ph type="sldNum" sz="quarter" idx="12"/>
          </p:nvPr>
        </p:nvSpPr>
        <p:spPr/>
        <p:txBody>
          <a:bodyPr/>
          <a:lstStyle/>
          <a:p>
            <a:fld id="{D35EF2C4-5B37-4EC4-92A6-F918E903B68D}" type="slidenum">
              <a:rPr lang="en-IN" smtClean="0"/>
              <a:t>12</a:t>
            </a:fld>
            <a:endParaRPr lang="en-IN"/>
          </a:p>
        </p:txBody>
      </p:sp>
      <p:sp>
        <p:nvSpPr>
          <p:cNvPr id="17" name="Title 1">
            <a:extLst>
              <a:ext uri="{FF2B5EF4-FFF2-40B4-BE49-F238E27FC236}">
                <a16:creationId xmlns:a16="http://schemas.microsoft.com/office/drawing/2014/main" id="{73CE2A78-1E5B-26BB-BFE0-0256380A233C}"/>
              </a:ext>
            </a:extLst>
          </p:cNvPr>
          <p:cNvSpPr>
            <a:spLocks noGrp="1"/>
          </p:cNvSpPr>
          <p:nvPr>
            <p:ph type="title"/>
          </p:nvPr>
        </p:nvSpPr>
        <p:spPr>
          <a:xfrm>
            <a:off x="1111388" y="221338"/>
            <a:ext cx="9969222" cy="662320"/>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Scope of further improvement</a:t>
            </a:r>
          </a:p>
        </p:txBody>
      </p:sp>
      <p:sp>
        <p:nvSpPr>
          <p:cNvPr id="2" name="TextBox 1">
            <a:extLst>
              <a:ext uri="{FF2B5EF4-FFF2-40B4-BE49-F238E27FC236}">
                <a16:creationId xmlns:a16="http://schemas.microsoft.com/office/drawing/2014/main" id="{A54535BE-ACF0-BA17-37A9-93F6C31E7CF6}"/>
              </a:ext>
            </a:extLst>
          </p:cNvPr>
          <p:cNvSpPr txBox="1"/>
          <p:nvPr/>
        </p:nvSpPr>
        <p:spPr>
          <a:xfrm>
            <a:off x="857956" y="1148715"/>
            <a:ext cx="10134600" cy="3170099"/>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Using Picoscope (with inbuilt function/signal generator) or FPGA development board to make the setup less bulky and automate the testing process.</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Programming and automating the testing process allows us to mitigate pulse shape distortion problem and precise identification of cause of failure.</a:t>
            </a:r>
          </a:p>
          <a:p>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Using Laser based optical to electrical converter gives us greater bandwidth for testing setup</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Using Low voltage differential signalling (LVDS) technique can improve robustness of test setup and reliability of results </a:t>
            </a:r>
          </a:p>
        </p:txBody>
      </p:sp>
    </p:spTree>
    <p:extLst>
      <p:ext uri="{BB962C8B-B14F-4D97-AF65-F5344CB8AC3E}">
        <p14:creationId xmlns:p14="http://schemas.microsoft.com/office/powerpoint/2010/main" val="869606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42744-6EED-C9B8-A5AC-651A0FF1E8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EA767A7-A155-97C1-8C16-542C76C4E18B}"/>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C3ED18D8-7295-88A3-B084-67901D67D9F7}"/>
              </a:ext>
            </a:extLst>
          </p:cNvPr>
          <p:cNvSpPr/>
          <p:nvPr/>
        </p:nvSpPr>
        <p:spPr>
          <a:xfrm>
            <a:off x="-103239" y="6646455"/>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Slide Number Placeholder 13">
            <a:extLst>
              <a:ext uri="{FF2B5EF4-FFF2-40B4-BE49-F238E27FC236}">
                <a16:creationId xmlns:a16="http://schemas.microsoft.com/office/drawing/2014/main" id="{368F34F5-685E-67ED-5EC4-1E2BF5103A67}"/>
              </a:ext>
            </a:extLst>
          </p:cNvPr>
          <p:cNvSpPr>
            <a:spLocks noGrp="1"/>
          </p:cNvSpPr>
          <p:nvPr>
            <p:ph type="sldNum" sz="quarter" idx="12"/>
          </p:nvPr>
        </p:nvSpPr>
        <p:spPr/>
        <p:txBody>
          <a:bodyPr/>
          <a:lstStyle/>
          <a:p>
            <a:fld id="{D35EF2C4-5B37-4EC4-92A6-F918E903B68D}" type="slidenum">
              <a:rPr lang="en-IN" smtClean="0"/>
              <a:t>13</a:t>
            </a:fld>
            <a:endParaRPr lang="en-IN"/>
          </a:p>
        </p:txBody>
      </p:sp>
      <p:sp>
        <p:nvSpPr>
          <p:cNvPr id="17" name="Title 1">
            <a:extLst>
              <a:ext uri="{FF2B5EF4-FFF2-40B4-BE49-F238E27FC236}">
                <a16:creationId xmlns:a16="http://schemas.microsoft.com/office/drawing/2014/main" id="{B19A01CD-1433-8BBF-CF2B-6261DF863031}"/>
              </a:ext>
            </a:extLst>
          </p:cNvPr>
          <p:cNvSpPr>
            <a:spLocks noGrp="1"/>
          </p:cNvSpPr>
          <p:nvPr>
            <p:ph type="title"/>
          </p:nvPr>
        </p:nvSpPr>
        <p:spPr>
          <a:xfrm>
            <a:off x="651740" y="28116"/>
            <a:ext cx="10963759" cy="662320"/>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Block Diagram of setup with further improvements</a:t>
            </a:r>
          </a:p>
        </p:txBody>
      </p:sp>
      <p:pic>
        <p:nvPicPr>
          <p:cNvPr id="2" name="Content Placeholder 5">
            <a:extLst>
              <a:ext uri="{FF2B5EF4-FFF2-40B4-BE49-F238E27FC236}">
                <a16:creationId xmlns:a16="http://schemas.microsoft.com/office/drawing/2014/main" id="{1CD25F32-CB42-4718-F8AA-6471246A45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3426246" y="-1748701"/>
            <a:ext cx="5414750" cy="10440358"/>
          </a:xfrm>
        </p:spPr>
      </p:pic>
    </p:spTree>
    <p:extLst>
      <p:ext uri="{BB962C8B-B14F-4D97-AF65-F5344CB8AC3E}">
        <p14:creationId xmlns:p14="http://schemas.microsoft.com/office/powerpoint/2010/main" val="2727617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D649E-A0AF-A6A4-AEDA-E3674FFC4A3F}"/>
            </a:ext>
          </a:extLst>
        </p:cNvPr>
        <p:cNvGrpSpPr/>
        <p:nvPr/>
      </p:nvGrpSpPr>
      <p:grpSpPr>
        <a:xfrm>
          <a:off x="0" y="0"/>
          <a:ext cx="0" cy="0"/>
          <a:chOff x="0" y="0"/>
          <a:chExt cx="0" cy="0"/>
        </a:xfrm>
      </p:grpSpPr>
      <p:pic>
        <p:nvPicPr>
          <p:cNvPr id="10242" name="Picture 2" descr="Question Answer Session Stock Illustrations – 242 Question Answer Session  Stock Illustrations, Vectors &amp; Clipart - Dreamstime">
            <a:extLst>
              <a:ext uri="{FF2B5EF4-FFF2-40B4-BE49-F238E27FC236}">
                <a16:creationId xmlns:a16="http://schemas.microsoft.com/office/drawing/2014/main" id="{64FB0F6E-01D9-1F97-9AD8-399067A86F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40794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F4BFD1F-3C4C-3A58-A942-C9ACD128CE75}"/>
              </a:ext>
            </a:extLst>
          </p:cNvPr>
          <p:cNvSpPr>
            <a:spLocks noGrp="1"/>
          </p:cNvSpPr>
          <p:nvPr>
            <p:ph type="title"/>
          </p:nvPr>
        </p:nvSpPr>
        <p:spPr/>
        <p:txBody>
          <a:bodyPr/>
          <a:lstStyle/>
          <a:p>
            <a:r>
              <a:rPr lang="en-IN" dirty="0"/>
              <a:t> </a:t>
            </a:r>
          </a:p>
        </p:txBody>
      </p:sp>
      <p:sp>
        <p:nvSpPr>
          <p:cNvPr id="4" name="Rectangle: Rounded Corners 3">
            <a:extLst>
              <a:ext uri="{FF2B5EF4-FFF2-40B4-BE49-F238E27FC236}">
                <a16:creationId xmlns:a16="http://schemas.microsoft.com/office/drawing/2014/main" id="{67699913-7CD9-0D34-6C40-DB0BA4A6A787}"/>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F604104-E656-0735-9E05-77EF1D91275C}"/>
              </a:ext>
            </a:extLst>
          </p:cNvPr>
          <p:cNvSpPr/>
          <p:nvPr/>
        </p:nvSpPr>
        <p:spPr>
          <a:xfrm>
            <a:off x="-103239" y="6663433"/>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E3344618-CAB5-9B10-21A1-B63BB81E1E4C}"/>
              </a:ext>
            </a:extLst>
          </p:cNvPr>
          <p:cNvSpPr txBox="1"/>
          <p:nvPr/>
        </p:nvSpPr>
        <p:spPr>
          <a:xfrm>
            <a:off x="210040" y="24591"/>
            <a:ext cx="6196404" cy="1200329"/>
          </a:xfrm>
          <a:prstGeom prst="rect">
            <a:avLst/>
          </a:prstGeom>
          <a:noFill/>
        </p:spPr>
        <p:txBody>
          <a:bodyPr wrap="square">
            <a:spAutoFit/>
          </a:bodyPr>
          <a:lstStyle/>
          <a:p>
            <a:pPr algn="ctr"/>
            <a:r>
              <a:rPr lang="en-IN" sz="7200" b="1" dirty="0">
                <a:solidFill>
                  <a:srgbClr val="1E4E79"/>
                </a:solidFill>
                <a:latin typeface="Algerian" panose="04020705040A02060702" pitchFamily="82" charset="0"/>
              </a:rPr>
              <a:t>Question</a:t>
            </a:r>
            <a:r>
              <a:rPr lang="en-IN" sz="7200" b="1" i="0" u="none" strike="noStrike" dirty="0">
                <a:solidFill>
                  <a:srgbClr val="BF9000"/>
                </a:solidFill>
                <a:effectLst/>
                <a:latin typeface="Algerian" panose="04020705040A02060702" pitchFamily="82" charset="0"/>
              </a:rPr>
              <a:t> </a:t>
            </a:r>
            <a:endParaRPr lang="en-IN" sz="7200" dirty="0"/>
          </a:p>
        </p:txBody>
      </p:sp>
      <p:sp>
        <p:nvSpPr>
          <p:cNvPr id="8" name="Slide Number Placeholder 7">
            <a:extLst>
              <a:ext uri="{FF2B5EF4-FFF2-40B4-BE49-F238E27FC236}">
                <a16:creationId xmlns:a16="http://schemas.microsoft.com/office/drawing/2014/main" id="{BB071989-F9F1-2723-62A1-CD85A0295DD7}"/>
              </a:ext>
            </a:extLst>
          </p:cNvPr>
          <p:cNvSpPr>
            <a:spLocks noGrp="1"/>
          </p:cNvSpPr>
          <p:nvPr>
            <p:ph type="sldNum" sz="quarter" idx="12"/>
          </p:nvPr>
        </p:nvSpPr>
        <p:spPr/>
        <p:txBody>
          <a:bodyPr/>
          <a:lstStyle/>
          <a:p>
            <a:fld id="{D35EF2C4-5B37-4EC4-92A6-F918E903B68D}" type="slidenum">
              <a:rPr lang="en-IN" smtClean="0"/>
              <a:t>14</a:t>
            </a:fld>
            <a:endParaRPr lang="en-IN"/>
          </a:p>
        </p:txBody>
      </p:sp>
      <p:sp>
        <p:nvSpPr>
          <p:cNvPr id="3" name="TextBox 2">
            <a:extLst>
              <a:ext uri="{FF2B5EF4-FFF2-40B4-BE49-F238E27FC236}">
                <a16:creationId xmlns:a16="http://schemas.microsoft.com/office/drawing/2014/main" id="{1F756BBA-22FC-4CD2-786A-00B8078962E8}"/>
              </a:ext>
            </a:extLst>
          </p:cNvPr>
          <p:cNvSpPr txBox="1"/>
          <p:nvPr/>
        </p:nvSpPr>
        <p:spPr>
          <a:xfrm>
            <a:off x="5045918" y="17940"/>
            <a:ext cx="6196404" cy="1200329"/>
          </a:xfrm>
          <a:prstGeom prst="rect">
            <a:avLst/>
          </a:prstGeom>
          <a:noFill/>
        </p:spPr>
        <p:txBody>
          <a:bodyPr wrap="square">
            <a:spAutoFit/>
          </a:bodyPr>
          <a:lstStyle/>
          <a:p>
            <a:pPr algn="ctr"/>
            <a:r>
              <a:rPr lang="en-IN" sz="7200" b="1" i="0" u="none" strike="noStrike" dirty="0">
                <a:solidFill>
                  <a:srgbClr val="BF9000"/>
                </a:solidFill>
                <a:effectLst/>
                <a:latin typeface="Algerian" panose="04020705040A02060702" pitchFamily="82" charset="0"/>
              </a:rPr>
              <a:t>&amp; Answer</a:t>
            </a:r>
            <a:endParaRPr lang="en-IN" sz="7200" dirty="0"/>
          </a:p>
        </p:txBody>
      </p:sp>
    </p:spTree>
    <p:extLst>
      <p:ext uri="{BB962C8B-B14F-4D97-AF65-F5344CB8AC3E}">
        <p14:creationId xmlns:p14="http://schemas.microsoft.com/office/powerpoint/2010/main" val="66124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3774A-18F2-8D32-BC92-AE43F04A5AAC}"/>
              </a:ext>
            </a:extLst>
          </p:cNvPr>
          <p:cNvSpPr>
            <a:spLocks noGrp="1"/>
          </p:cNvSpPr>
          <p:nvPr>
            <p:ph type="title"/>
          </p:nvPr>
        </p:nvSpPr>
        <p:spPr/>
        <p:txBody>
          <a:bodyPr/>
          <a:lstStyle/>
          <a:p>
            <a:r>
              <a:rPr lang="en-IN" dirty="0"/>
              <a:t> </a:t>
            </a:r>
          </a:p>
        </p:txBody>
      </p:sp>
      <p:sp>
        <p:nvSpPr>
          <p:cNvPr id="4" name="Rectangle: Rounded Corners 3">
            <a:extLst>
              <a:ext uri="{FF2B5EF4-FFF2-40B4-BE49-F238E27FC236}">
                <a16:creationId xmlns:a16="http://schemas.microsoft.com/office/drawing/2014/main" id="{D81A48E5-BA50-83DC-152C-E075491092B1}"/>
              </a:ext>
            </a:extLst>
          </p:cNvPr>
          <p:cNvSpPr/>
          <p:nvPr/>
        </p:nvSpPr>
        <p:spPr>
          <a:xfrm>
            <a:off x="0" y="6381398"/>
            <a:ext cx="12192000" cy="476510"/>
          </a:xfrm>
          <a:prstGeom prst="roundRect">
            <a:avLst/>
          </a:prstGeom>
          <a:solidFill>
            <a:srgbClr val="FAC3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E1F00AB2-D93B-6C41-0439-D511B2B146B9}"/>
              </a:ext>
            </a:extLst>
          </p:cNvPr>
          <p:cNvSpPr/>
          <p:nvPr/>
        </p:nvSpPr>
        <p:spPr>
          <a:xfrm>
            <a:off x="-103239" y="6663433"/>
            <a:ext cx="12398477" cy="388950"/>
          </a:xfrm>
          <a:prstGeom prst="roundRect">
            <a:avLst/>
          </a:prstGeom>
          <a:solidFill>
            <a:srgbClr val="002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DE3D707-419A-A63C-47B9-6A4349220ACB}"/>
              </a:ext>
            </a:extLst>
          </p:cNvPr>
          <p:cNvSpPr txBox="1"/>
          <p:nvPr/>
        </p:nvSpPr>
        <p:spPr>
          <a:xfrm>
            <a:off x="3012545" y="2828835"/>
            <a:ext cx="6196404" cy="1200329"/>
          </a:xfrm>
          <a:prstGeom prst="rect">
            <a:avLst/>
          </a:prstGeom>
          <a:noFill/>
        </p:spPr>
        <p:txBody>
          <a:bodyPr wrap="square">
            <a:spAutoFit/>
          </a:bodyPr>
          <a:lstStyle/>
          <a:p>
            <a:pPr algn="ctr"/>
            <a:r>
              <a:rPr lang="en-IN" sz="7200" b="1" i="0" u="none" strike="noStrike" dirty="0">
                <a:solidFill>
                  <a:srgbClr val="1E4E79"/>
                </a:solidFill>
                <a:effectLst/>
                <a:latin typeface="Algerian" panose="04020705040A02060702" pitchFamily="82" charset="0"/>
              </a:rPr>
              <a:t>Than</a:t>
            </a:r>
            <a:r>
              <a:rPr lang="en-IN" sz="7200" b="1" i="0" u="none" strike="noStrike" dirty="0">
                <a:solidFill>
                  <a:srgbClr val="BF9000"/>
                </a:solidFill>
                <a:effectLst/>
                <a:latin typeface="Algerian" panose="04020705040A02060702" pitchFamily="82" charset="0"/>
              </a:rPr>
              <a:t>k Y</a:t>
            </a:r>
            <a:r>
              <a:rPr lang="en-IN" sz="7200" b="1" i="0" u="none" strike="noStrike" dirty="0">
                <a:solidFill>
                  <a:srgbClr val="1E4E79"/>
                </a:solidFill>
                <a:effectLst/>
                <a:latin typeface="Algerian" panose="04020705040A02060702" pitchFamily="82" charset="0"/>
              </a:rPr>
              <a:t>ou</a:t>
            </a:r>
            <a:endParaRPr lang="en-IN" sz="7200" dirty="0"/>
          </a:p>
        </p:txBody>
      </p:sp>
      <p:sp>
        <p:nvSpPr>
          <p:cNvPr id="8" name="Slide Number Placeholder 7">
            <a:extLst>
              <a:ext uri="{FF2B5EF4-FFF2-40B4-BE49-F238E27FC236}">
                <a16:creationId xmlns:a16="http://schemas.microsoft.com/office/drawing/2014/main" id="{57875A46-683F-E83E-D2CF-12C11F944D75}"/>
              </a:ext>
            </a:extLst>
          </p:cNvPr>
          <p:cNvSpPr>
            <a:spLocks noGrp="1"/>
          </p:cNvSpPr>
          <p:nvPr>
            <p:ph type="sldNum" sz="quarter" idx="12"/>
          </p:nvPr>
        </p:nvSpPr>
        <p:spPr/>
        <p:txBody>
          <a:bodyPr/>
          <a:lstStyle/>
          <a:p>
            <a:fld id="{D35EF2C4-5B37-4EC4-92A6-F918E903B68D}" type="slidenum">
              <a:rPr lang="en-IN" smtClean="0"/>
              <a:t>15</a:t>
            </a:fld>
            <a:endParaRPr lang="en-IN"/>
          </a:p>
        </p:txBody>
      </p:sp>
    </p:spTree>
    <p:extLst>
      <p:ext uri="{BB962C8B-B14F-4D97-AF65-F5344CB8AC3E}">
        <p14:creationId xmlns:p14="http://schemas.microsoft.com/office/powerpoint/2010/main" val="2657180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3649</TotalTime>
  <Words>838</Words>
  <Application>Microsoft Office PowerPoint</Application>
  <PresentationFormat>Widescreen</PresentationFormat>
  <Paragraphs>135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Algerian</vt:lpstr>
      <vt:lpstr>Arial</vt:lpstr>
      <vt:lpstr>Calibri</vt:lpstr>
      <vt:lpstr>Calibri Light</vt:lpstr>
      <vt:lpstr>Times New Roman</vt:lpstr>
      <vt:lpstr>Office Theme</vt:lpstr>
      <vt:lpstr>PowerPoint Presentation</vt:lpstr>
      <vt:lpstr>List of Contents</vt:lpstr>
      <vt:lpstr>Validation and Testing of ICs</vt:lpstr>
      <vt:lpstr>Introduction to EMC testing of ICs </vt:lpstr>
      <vt:lpstr>Digital Isolators </vt:lpstr>
      <vt:lpstr>IEC-61000-4(Standard for EMC testing)</vt:lpstr>
      <vt:lpstr>Block Diagram of RI testing</vt:lpstr>
      <vt:lpstr>Earlier Signal Chain Setup </vt:lpstr>
      <vt:lpstr> Proposed Testing Procedure</vt:lpstr>
      <vt:lpstr>Block Diagram of new setup</vt:lpstr>
      <vt:lpstr>Test setup images</vt:lpstr>
      <vt:lpstr>Scope of further improvement</vt:lpstr>
      <vt:lpstr>Block Diagram of setup with further improvements</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 Kumar Jha</dc:creator>
  <cp:lastModifiedBy>Aditya Kumar Jha</cp:lastModifiedBy>
  <cp:revision>9</cp:revision>
  <dcterms:created xsi:type="dcterms:W3CDTF">2024-03-15T11:30:18Z</dcterms:created>
  <dcterms:modified xsi:type="dcterms:W3CDTF">2025-10-06T05:25:41Z</dcterms:modified>
</cp:coreProperties>
</file>